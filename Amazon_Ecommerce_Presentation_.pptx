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" dt="2026-10-13T06:49:22.596"/>
    <p1510:client id="{9FF0EC9B-B771-2C9A-CF47-146B766441B0}" v="8" dt="2026-10-13T06:47:29.7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6AD-4AF1-B692-760BEF62361C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76AD-4AF1-B692-760BEF62361C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76AD-4AF1-B692-760BEF62361C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76AD-4AF1-B692-760BEF62361C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76AD-4AF1-B692-760BEF62361C}"/>
              </c:ext>
            </c:extLst>
          </c:dPt>
          <c:dPt>
            <c:idx val="5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6AD-4AF1-B692-760BEF62361C}"/>
              </c:ext>
            </c:extLst>
          </c:dPt>
          <c:dLbls>
            <c:numFmt formatCode="\$#,##0,,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17043052</c:v>
                </c:pt>
                <c:pt idx="1">
                  <c:v>16409823</c:v>
                </c:pt>
                <c:pt idx="2">
                  <c:v>16755109</c:v>
                </c:pt>
                <c:pt idx="3">
                  <c:v>16285167</c:v>
                </c:pt>
                <c:pt idx="4">
                  <c:v>16769593</c:v>
                </c:pt>
                <c:pt idx="5">
                  <c:v>23976553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76AD-4AF1-B692-760BEF62361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9F4-4438-AD5F-AAFE445803C2}"/>
              </c:ext>
            </c:extLst>
          </c:dPt>
          <c:dPt>
            <c:idx val="1"/>
            <c:bubble3D val="0"/>
            <c:spPr>
              <a:solidFill>
                <a:srgbClr val="0D1B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9F4-4438-AD5F-AAFE445803C2}"/>
              </c:ext>
            </c:extLst>
          </c:dPt>
          <c:dPt>
            <c:idx val="2"/>
            <c:bubble3D val="0"/>
            <c:spPr>
              <a:solidFill>
                <a:srgbClr val="4B9B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9F4-4438-AD5F-AAFE445803C2}"/>
              </c:ext>
            </c:extLst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9F4-4438-AD5F-AAFE445803C2}"/>
              </c:ext>
            </c:extLst>
          </c:dPt>
          <c:dPt>
            <c:idx val="4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9F4-4438-AD5F-AAFE445803C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9F4-4438-AD5F-AAFE445803C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9F4-4438-AD5F-AAFE445803C2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9F4-4438-AD5F-AAFE445803C2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9F4-4438-AD5F-AAFE445803C2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9F4-4438-AD5F-AAFE445803C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Phones &amp; Tablets</c:v>
                </c:pt>
                <c:pt idx="1">
                  <c:v>Electronics</c:v>
                </c:pt>
                <c:pt idx="2">
                  <c:v>Fashion</c:v>
                </c:pt>
                <c:pt idx="3">
                  <c:v>Health &amp; Beauty</c:v>
                </c:pt>
                <c:pt idx="4">
                  <c:v>Home &amp; Office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38535343</c:v>
                </c:pt>
                <c:pt idx="1">
                  <c:v>32826079</c:v>
                </c:pt>
                <c:pt idx="2">
                  <c:v>12411565</c:v>
                </c:pt>
                <c:pt idx="3">
                  <c:v>11935540</c:v>
                </c:pt>
                <c:pt idx="4">
                  <c:v>11530632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9F4-4438-AD5F-AAFE445803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3D7DD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092-40E4-B78E-94050FF54602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C092-40E4-B78E-94050FF54602}"/>
              </c:ext>
            </c:extLst>
          </c:dPt>
          <c:dPt>
            <c:idx val="2"/>
            <c:invertIfNegative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092-40E4-B78E-94050FF54602}"/>
              </c:ext>
            </c:extLst>
          </c:dPt>
          <c:dPt>
            <c:idx val="3"/>
            <c:invertIfNegative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092-40E4-B78E-94050FF54602}"/>
              </c:ext>
            </c:extLst>
          </c:dPt>
          <c:dPt>
            <c:idx val="4"/>
            <c:invertIfNegative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092-40E4-B78E-94050FF54602}"/>
              </c:ext>
            </c:extLst>
          </c:dPt>
          <c:dLbls>
            <c:numFmt formatCode="\$#,##0,,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Canon 60D Bundle</c:v>
                </c:pt>
                <c:pt idx="1">
                  <c:v>Canon 600D DSLR</c:v>
                </c:pt>
                <c:pt idx="2">
                  <c:v>Amazon Fire HD 8</c:v>
                </c:pt>
                <c:pt idx="3">
                  <c:v>Samsung A02</c:v>
                </c:pt>
                <c:pt idx="4">
                  <c:v>Infinix Smart HD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12094384</c:v>
                </c:pt>
                <c:pt idx="1">
                  <c:v>13890491</c:v>
                </c:pt>
                <c:pt idx="2">
                  <c:v>11236628</c:v>
                </c:pt>
                <c:pt idx="3">
                  <c:v>8995920</c:v>
                </c:pt>
                <c:pt idx="4">
                  <c:v>6299126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092-40E4-B78E-94050FF5460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Returns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719-4DEC-80BE-D0D2F99D3409}"/>
              </c:ext>
            </c:extLst>
          </c:dPt>
          <c:dPt>
            <c:idx val="1"/>
            <c:invertIfNegative val="0"/>
            <c:bubble3D val="0"/>
            <c:spPr>
              <a:solidFill>
                <a:srgbClr val="F871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719-4DEC-80BE-D0D2F99D3409}"/>
              </c:ext>
            </c:extLst>
          </c:dPt>
          <c:dPt>
            <c:idx val="2"/>
            <c:invertIfNegative val="0"/>
            <c:bubble3D val="0"/>
            <c:spPr>
              <a:solidFill>
                <a:srgbClr val="F871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719-4DEC-80BE-D0D2F99D3409}"/>
              </c:ext>
            </c:extLst>
          </c:dPt>
          <c:dPt>
            <c:idx val="3"/>
            <c:invertIfNegative val="0"/>
            <c:bubble3D val="0"/>
            <c:spPr>
              <a:solidFill>
                <a:srgbClr val="F871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719-4DEC-80BE-D0D2F99D3409}"/>
              </c:ext>
            </c:extLst>
          </c:dPt>
          <c:dPt>
            <c:idx val="4"/>
            <c:invertIfNegative val="0"/>
            <c:bubble3D val="0"/>
            <c:spPr>
              <a:solidFill>
                <a:srgbClr val="FCA5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719-4DEC-80BE-D0D2F99D340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Quality-Defective</c:v>
                </c:pt>
                <c:pt idx="1">
                  <c:v>Delivery-Missing</c:v>
                </c:pt>
                <c:pt idx="2">
                  <c:v>Not as Expected</c:v>
                </c:pt>
                <c:pt idx="3">
                  <c:v>Wrong Item</c:v>
                </c:pt>
                <c:pt idx="4">
                  <c:v>Desc. Mismatch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6065</c:v>
                </c:pt>
                <c:pt idx="1">
                  <c:v>6013</c:v>
                </c:pt>
                <c:pt idx="2">
                  <c:v>5872</c:v>
                </c:pt>
                <c:pt idx="3">
                  <c:v>5868</c:v>
                </c:pt>
                <c:pt idx="4">
                  <c:v>5827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719-4DEC-80BE-D0D2F99D340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98C8F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2F8-47D9-873C-3CBB9B97BC0E}"/>
              </c:ext>
            </c:extLst>
          </c:dPt>
          <c:dPt>
            <c:idx val="1"/>
            <c:invertIfNegative val="0"/>
            <c:bubble3D val="0"/>
            <c:spPr>
              <a:solidFill>
                <a:srgbClr val="7AB3E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2F8-47D9-873C-3CBB9B97BC0E}"/>
              </c:ext>
            </c:extLst>
          </c:dPt>
          <c:dPt>
            <c:idx val="2"/>
            <c:invertIfNegative val="0"/>
            <c:bubble3D val="0"/>
            <c:spPr>
              <a:solidFill>
                <a:srgbClr val="5B9B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2F8-47D9-873C-3CBB9B97BC0E}"/>
              </c:ext>
            </c:extLst>
          </c:dPt>
          <c:dPt>
            <c:idx val="3"/>
            <c:invertIfNegative val="0"/>
            <c:bubble3D val="0"/>
            <c:spPr>
              <a:solidFill>
                <a:srgbClr val="3D7D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2F8-47D9-873C-3CBB9B97BC0E}"/>
              </c:ext>
            </c:extLst>
          </c:dPt>
          <c:dPt>
            <c:idx val="4"/>
            <c:invertIfNegative val="0"/>
            <c:bubble3D val="0"/>
            <c:spPr>
              <a:solidFill>
                <a:srgbClr val="3D7D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2F8-47D9-873C-3CBB9B97BC0E}"/>
              </c:ext>
            </c:extLst>
          </c:dPt>
          <c:dPt>
            <c:idx val="5"/>
            <c:invertIfNegative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2F8-47D9-873C-3CBB9B97BC0E}"/>
              </c:ext>
            </c:extLst>
          </c:dPt>
          <c:dPt>
            <c:idx val="6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32F8-47D9-873C-3CBB9B97BC0E}"/>
              </c:ext>
            </c:extLst>
          </c:dPt>
          <c:dLbls>
            <c:numFmt formatCode="\$#,##0,,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Upper East</c:v>
                </c:pt>
                <c:pt idx="1">
                  <c:v>Volta</c:v>
                </c:pt>
                <c:pt idx="2">
                  <c:v>Upper West</c:v>
                </c:pt>
                <c:pt idx="3">
                  <c:v>Weija</c:v>
                </c:pt>
                <c:pt idx="4">
                  <c:v>Western</c:v>
                </c:pt>
                <c:pt idx="5">
                  <c:v>Ashanti</c:v>
                </c:pt>
                <c:pt idx="6">
                  <c:v>Greater Accra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3198661</c:v>
                </c:pt>
                <c:pt idx="1">
                  <c:v>4814934</c:v>
                </c:pt>
                <c:pt idx="2">
                  <c:v>5370989</c:v>
                </c:pt>
                <c:pt idx="3">
                  <c:v>12974878</c:v>
                </c:pt>
                <c:pt idx="4">
                  <c:v>16641343</c:v>
                </c:pt>
                <c:pt idx="5">
                  <c:v>22612638</c:v>
                </c:pt>
                <c:pt idx="6">
                  <c:v>27073392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32F8-47D9-873C-3CBB9B97BC0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38100" cap="flat">
              <a:solidFill>
                <a:srgbClr val="2563E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10109619</c:v>
                </c:pt>
                <c:pt idx="1">
                  <c:v>8764480</c:v>
                </c:pt>
                <c:pt idx="2">
                  <c:v>9874489</c:v>
                </c:pt>
                <c:pt idx="3">
                  <c:v>9725079</c:v>
                </c:pt>
                <c:pt idx="4">
                  <c:v>9865324</c:v>
                </c:pt>
                <c:pt idx="5">
                  <c:v>8111573</c:v>
                </c:pt>
                <c:pt idx="6">
                  <c:v>8616248</c:v>
                </c:pt>
                <c:pt idx="7">
                  <c:v>8546118</c:v>
                </c:pt>
                <c:pt idx="8">
                  <c:v>8060516</c:v>
                </c:pt>
                <c:pt idx="9">
                  <c:v>8688366</c:v>
                </c:pt>
                <c:pt idx="10">
                  <c:v>8285863</c:v>
                </c:pt>
                <c:pt idx="11">
                  <c:v>8591622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057-4A83-ACF9-3D306EF465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EC72DD-F2F5-439C-944D-CF10ED3907F7}" type="datetimeFigureOut">
              <a:t>10/12/2026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82278C-A57B-493D-B401-4B21DF059BC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138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371600"/>
            <a:ext cx="5486400" cy="5486400"/>
          </a:xfrm>
          <a:prstGeom prst="ellipse">
            <a:avLst/>
          </a:prstGeom>
          <a:solidFill>
            <a:srgbClr val="1B3A6B">
              <a:alpha val="45000"/>
            </a:srgbClr>
          </a:solidFill>
          <a:ln w="12700">
            <a:solidFill>
              <a:srgbClr val="1B3A6B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2563EB">
              <a:alpha val="28000"/>
            </a:srgbClr>
          </a:solidFill>
          <a:ln w="12700">
            <a:solidFill>
              <a:srgbClr val="2563EB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" y="0"/>
            <a:ext cx="2743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685800"/>
            <a:ext cx="2560320" cy="347472"/>
          </a:xfrm>
          <a:prstGeom prst="roundRect">
            <a:avLst>
              <a:gd name="adj" fmla="val 15789"/>
            </a:avLst>
          </a:prstGeom>
          <a:solidFill>
            <a:srgbClr val="2563EB">
              <a:alpha val="7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6858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</a:rPr>
              <a:t>NEWTON SCHOOL  ·  DATA ANALYTICS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11480" y="1170432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600" dirty="0">
                <a:solidFill>
                  <a:srgbClr val="F59E0B"/>
                </a:solidFill>
              </a:rPr>
              <a:t>Amazon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1627632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</a:rPr>
              <a:t>E-Commerce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411480" y="2578608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dirty="0">
                <a:solidFill>
                  <a:srgbClr val="A8C4E0"/>
                </a:solidFill>
              </a:rPr>
              <a:t>Data Analysis</a:t>
            </a:r>
            <a:endParaRPr lang="en-US" sz="5200" dirty="0"/>
          </a:p>
        </p:txBody>
      </p:sp>
      <p:sp>
        <p:nvSpPr>
          <p:cNvPr id="11" name="Shape 9"/>
          <p:cNvSpPr/>
          <p:nvPr/>
        </p:nvSpPr>
        <p:spPr>
          <a:xfrm>
            <a:off x="411480" y="3493008"/>
            <a:ext cx="347472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60273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C4E0"/>
                </a:solidFill>
              </a:rPr>
              <a:t>Power BI Project   ·   May 2025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" y="3931920"/>
            <a:ext cx="6400800" cy="3108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>
                <a:solidFill>
                  <a:srgbClr val="A8C4E0"/>
                </a:solidFill>
                <a:ea typeface="Calibri"/>
                <a:cs typeface="Calibri"/>
              </a:rPr>
              <a:t>Moin Khan</a:t>
            </a:r>
            <a:endParaRPr lang="en-US" sz="1400" dirty="0">
              <a:solidFill>
                <a:srgbClr val="A8C4E0"/>
              </a:solidFill>
              <a:ea typeface="Calibri"/>
              <a:cs typeface="Calibri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11480" y="4462272"/>
            <a:ext cx="1965960" cy="566928"/>
          </a:xfrm>
          <a:prstGeom prst="rect">
            <a:avLst/>
          </a:prstGeom>
          <a:solidFill>
            <a:srgbClr val="1B3A6B">
              <a:alpha val="70000"/>
            </a:srgbClr>
          </a:solidFill>
          <a:ln w="12700">
            <a:solidFill>
              <a:srgbClr val="2563EB">
                <a:alpha val="4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4462272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113,000  ·  Orders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587752" y="4462272"/>
            <a:ext cx="1965960" cy="566928"/>
          </a:xfrm>
          <a:prstGeom prst="rect">
            <a:avLst/>
          </a:prstGeom>
          <a:solidFill>
            <a:srgbClr val="1B3A6B">
              <a:alpha val="70000"/>
            </a:srgbClr>
          </a:solidFill>
          <a:ln w="12700">
            <a:solidFill>
              <a:srgbClr val="2563EB">
                <a:alpha val="4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87752" y="4462272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$107.2M  ·  Revenue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64024" y="4462272"/>
            <a:ext cx="1965960" cy="566928"/>
          </a:xfrm>
          <a:prstGeom prst="rect">
            <a:avLst/>
          </a:prstGeom>
          <a:solidFill>
            <a:srgbClr val="1B3A6B">
              <a:alpha val="70000"/>
            </a:srgbClr>
          </a:solidFill>
          <a:ln w="12700">
            <a:solidFill>
              <a:srgbClr val="2563EB">
                <a:alpha val="4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64024" y="4462272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44  ·  Products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940296" y="4462272"/>
            <a:ext cx="1965960" cy="566928"/>
          </a:xfrm>
          <a:prstGeom prst="rect">
            <a:avLst/>
          </a:prstGeom>
          <a:solidFill>
            <a:srgbClr val="1B3A6B">
              <a:alpha val="70000"/>
            </a:srgbClr>
          </a:solidFill>
          <a:ln w="12700">
            <a:solidFill>
              <a:srgbClr val="2563EB">
                <a:alpha val="4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0296" y="4462272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 Years  ·  Data Span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02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F59E0B"/>
                </a:solidFill>
              </a:rPr>
              <a:t>AGENDA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56032" y="96012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</a:rPr>
              <a:t>What we'll</a:t>
            </a:r>
            <a:endParaRPr lang="en-US" sz="3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</a:rPr>
              <a:t>cover today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56032" y="2487168"/>
            <a:ext cx="2286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2633472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7FA8C8"/>
                </a:solidFill>
              </a:rPr>
              <a:t>Amazon E-Commerce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7FA8C8"/>
                </a:solidFill>
              </a:rPr>
              <a:t>Power BI Project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7FA8C8"/>
                </a:solidFill>
              </a:rPr>
              <a:t>Newton School · 2025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64592"/>
            <a:ext cx="2834640" cy="1078992"/>
          </a:xfrm>
          <a:prstGeom prst="roundRect">
            <a:avLst>
              <a:gd name="adj" fmla="val 847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10712" y="2926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</a:rPr>
              <a:t>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050792" y="274320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Problem Statement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050792" y="640080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BEAFE"/>
                </a:solidFill>
              </a:rPr>
              <a:t>Business context &amp; analytical goals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399032"/>
            <a:ext cx="283464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10712" y="1527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050792" y="1508760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</a:rPr>
              <a:t>Data Overview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050792" y="1874520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Dataset structure, cleaning &amp; KPIs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46120" y="2633472"/>
            <a:ext cx="283464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10712" y="27614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050792" y="2743200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</a:rPr>
              <a:t>Methodology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050792" y="3108960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Power BI, DAX, SQL approach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3867912"/>
            <a:ext cx="283464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10712" y="39959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</a:rPr>
              <a:t>04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050792" y="3977640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</a:rPr>
              <a:t>Revenue Analysis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050792" y="4343400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Trends, categories &amp; products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36208" y="164592"/>
            <a:ext cx="283464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0" y="2926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</a:rPr>
              <a:t>05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040880" y="274320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</a:rPr>
              <a:t>Returns &amp; Ratings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040880" y="640080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27% return rate deep-dive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36208" y="1399032"/>
            <a:ext cx="283464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00800" y="1527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</a:rPr>
              <a:t>06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7040880" y="1508760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</a:rPr>
              <a:t>Location &amp; Customers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7040880" y="1874520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Geography &amp; demographics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36208" y="2633472"/>
            <a:ext cx="283464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00800" y="27614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</a:rPr>
              <a:t>07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7040880" y="2743200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</a:rPr>
              <a:t>Recommendations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7040880" y="3108960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Loyalty, promotions &amp; strategies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321040" y="491947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78992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182880"/>
            <a:ext cx="1769364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82880"/>
            <a:ext cx="17693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</a:rPr>
              <a:t>PROBLEM STATEMENT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47472" y="512064"/>
            <a:ext cx="84490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Business Challenge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20040" y="1207008"/>
            <a:ext cx="5303520" cy="3749040"/>
          </a:xfrm>
          <a:prstGeom prst="roundRect">
            <a:avLst>
              <a:gd name="adj" fmla="val 243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07008"/>
            <a:ext cx="64008" cy="3749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3716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563EB"/>
                </a:solidFill>
              </a:rPr>
              <a:t>SCENARIO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1700784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E293B"/>
                </a:solidFill>
              </a:rPr>
              <a:t>You are a Business Analyst</a:t>
            </a:r>
            <a:endParaRPr lang="en-US" sz="2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E293B"/>
                </a:solidFill>
              </a:rPr>
              <a:t>at Amazon Ghana.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30352" y="2706624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475569"/>
                </a:solidFill>
              </a:rPr>
              <a:t>Stakeholders want to devise new strategies to identify and reward customers, reduce returns, and enhance the shopping experience through data.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648456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3566160"/>
            <a:ext cx="46451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Offer discounts and Prime membership perks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995928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3913632"/>
            <a:ext cx="46451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Identify &amp; reward top-value customers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34340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4261104"/>
            <a:ext cx="46451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Reduce the 27% return rate significantly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469087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4608576"/>
            <a:ext cx="46451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Improve the 2.73 / 5 average rating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779008" y="1261872"/>
            <a:ext cx="3044952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870448" y="1335024"/>
            <a:ext cx="914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563EB"/>
                </a:solidFill>
              </a:rPr>
              <a:t>20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6839712" y="1389888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Objective Questions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39712" y="1737360"/>
            <a:ext cx="19019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Answered with SQL &amp; Power BI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779008" y="2523744"/>
            <a:ext cx="3044952" cy="1078992"/>
          </a:xfrm>
          <a:prstGeom prst="roundRect">
            <a:avLst>
              <a:gd name="adj" fmla="val 847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870448" y="2596896"/>
            <a:ext cx="914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59E0B"/>
                </a:solidFill>
              </a:rPr>
              <a:t>16</a:t>
            </a:r>
            <a:endParaRPr lang="en-US" sz="4400" dirty="0"/>
          </a:p>
        </p:txBody>
      </p:sp>
      <p:sp>
        <p:nvSpPr>
          <p:cNvPr id="26" name="Text 24"/>
          <p:cNvSpPr/>
          <p:nvPr/>
        </p:nvSpPr>
        <p:spPr>
          <a:xfrm>
            <a:off x="6839712" y="2651760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Subjective Questions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39712" y="2999232"/>
            <a:ext cx="19019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BEAFE"/>
                </a:solidFill>
              </a:rPr>
              <a:t>Data-driven insights &amp; strategies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779008" y="3785616"/>
            <a:ext cx="3044952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870448" y="3858768"/>
            <a:ext cx="914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563EB"/>
                </a:solidFill>
              </a:rPr>
              <a:t>3</a:t>
            </a:r>
            <a:endParaRPr lang="en-US" sz="4400" dirty="0"/>
          </a:p>
        </p:txBody>
      </p:sp>
      <p:sp>
        <p:nvSpPr>
          <p:cNvPr id="30" name="Text 28"/>
          <p:cNvSpPr/>
          <p:nvPr/>
        </p:nvSpPr>
        <p:spPr>
          <a:xfrm>
            <a:off x="6839712" y="3913632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Dashboard Tabs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39712" y="4261104"/>
            <a:ext cx="19019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Built in Power BI for stakeholders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321040" y="491947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78992"/>
            <a:ext cx="91440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182880"/>
            <a:ext cx="900684" cy="292608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82880"/>
            <a:ext cx="9006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</a:rPr>
              <a:t>DATASET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47472" y="512064"/>
            <a:ext cx="84490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Data Overview &amp; Cleaning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20040" y="1207008"/>
            <a:ext cx="1993392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07008"/>
            <a:ext cx="1993392" cy="73152"/>
          </a:xfrm>
          <a:prstGeom prst="roundRect">
            <a:avLst>
              <a:gd name="adj" fmla="val 625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80160"/>
            <a:ext cx="1993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</a:rPr>
              <a:t>113,000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0040" y="1901952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</a:rPr>
              <a:t>Total Orders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20040" y="2157984"/>
            <a:ext cx="1993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2015 – 2020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96312" y="1207008"/>
            <a:ext cx="1993392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96312" y="1207008"/>
            <a:ext cx="1993392" cy="73152"/>
          </a:xfrm>
          <a:prstGeom prst="roundRect">
            <a:avLst>
              <a:gd name="adj" fmla="val 625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96312" y="1280160"/>
            <a:ext cx="1993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</a:rPr>
              <a:t>$107.2M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496312" y="1901952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</a:rPr>
              <a:t>Total Revenue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496312" y="2157984"/>
            <a:ext cx="1993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Avg order $949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72584" y="1207008"/>
            <a:ext cx="1993392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72584" y="1207008"/>
            <a:ext cx="1993392" cy="73152"/>
          </a:xfrm>
          <a:prstGeom prst="roundRect">
            <a:avLst>
              <a:gd name="adj" fmla="val 625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72584" y="1280160"/>
            <a:ext cx="1993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4444"/>
                </a:solidFill>
              </a:rPr>
              <a:t>27.0%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672584" y="1901952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</a:rPr>
              <a:t>Return Rate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672584" y="2157984"/>
            <a:ext cx="1993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30,526 returns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48856" y="1207008"/>
            <a:ext cx="1993392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48856" y="1207008"/>
            <a:ext cx="1993392" cy="73152"/>
          </a:xfrm>
          <a:prstGeom prst="roundRect">
            <a:avLst>
              <a:gd name="adj" fmla="val 625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48856" y="1280160"/>
            <a:ext cx="1993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</a:rPr>
              <a:t>2.73 / 5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848856" y="1901952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</a:rPr>
              <a:t>Avg Rating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848856" y="2157984"/>
            <a:ext cx="1993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Scale 1–5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2633472"/>
            <a:ext cx="4251960" cy="2377440"/>
          </a:xfrm>
          <a:prstGeom prst="roundRect">
            <a:avLst>
              <a:gd name="adj" fmla="val 384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2920" y="277977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2563EB"/>
                </a:solidFill>
              </a:rPr>
              <a:t>DATASET STRUCTURE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127248"/>
            <a:ext cx="39776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127248"/>
            <a:ext cx="64008" cy="8046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" y="321868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Orders Table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21792" y="352958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17 columns  ·  113,000 rows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4151376"/>
            <a:ext cx="39776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" y="4151376"/>
            <a:ext cx="64008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" y="42428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Customers Table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21792" y="45537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3 columns  ·  113,000 rows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754880" y="2633472"/>
            <a:ext cx="4069080" cy="2377440"/>
          </a:xfrm>
          <a:prstGeom prst="roundRect">
            <a:avLst>
              <a:gd name="adj" fmla="val 3846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937760" y="277977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F59E0B"/>
                </a:solidFill>
              </a:rPr>
              <a:t>DATA CLEANING STEPS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919472" y="3127248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02352" y="30906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CF0"/>
                </a:solidFill>
              </a:rPr>
              <a:t>8 null Unit Prices → median by category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919472" y="3447288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02352" y="341071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CF0"/>
                </a:solidFill>
              </a:rPr>
              <a:t>1 null Product Category → lookup match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919472" y="3767328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02352" y="373075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CF0"/>
                </a:solidFill>
              </a:rPr>
              <a:t>83,355 Reason nulls → valid (Delivered orders)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919472" y="4087368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02352" y="40507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CF0"/>
                </a:solidFill>
              </a:rPr>
              <a:t>CustomerID → reformatted as Text type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919472" y="4407408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02352" y="43708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CF0"/>
                </a:solidFill>
              </a:rPr>
              <a:t>Delivery Days column added via M-Query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919472" y="4727448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02352" y="46908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CF0"/>
                </a:solidFill>
              </a:rPr>
              <a:t>Zero duplicate OrderIDs confirmed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321040" y="491947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78992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182880"/>
            <a:ext cx="1248156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82880"/>
            <a:ext cx="12481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</a:rPr>
              <a:t>METHODOLOGY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47472" y="512064"/>
            <a:ext cx="84490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Analytical Approach &amp; Tools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20040" y="1207008"/>
            <a:ext cx="4251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463040"/>
            <a:ext cx="548640" cy="5486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11880" y="1335024"/>
            <a:ext cx="868680" cy="237744"/>
          </a:xfrm>
          <a:prstGeom prst="roundRect">
            <a:avLst>
              <a:gd name="adj" fmla="val 19231"/>
            </a:avLst>
          </a:prstGeom>
          <a:solidFill>
            <a:srgbClr val="2563EB">
              <a:alpha val="18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1335024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Power BI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61288" y="1335024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Data Loading &amp; Modelling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61288" y="1700784"/>
            <a:ext cx="3337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Orders (113K rows) + Customers into Power BI. Built N:1 star schema on CustomerID.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1207008"/>
            <a:ext cx="4251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83480" y="1463040"/>
            <a:ext cx="54864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92440" y="1335024"/>
            <a:ext cx="868680" cy="237744"/>
          </a:xfrm>
          <a:prstGeom prst="roundRect">
            <a:avLst>
              <a:gd name="adj" fmla="val 19231"/>
            </a:avLst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92440" y="1335024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B981"/>
                </a:solidFill>
              </a:rPr>
              <a:t>Power Query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641848" y="1335024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Power Query (M Language)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41848" y="1700784"/>
            <a:ext cx="3337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Table.AddColumn() for Delivery Days; median imputation for 9 nulls; type conversions.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2542032"/>
            <a:ext cx="4251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2798064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79806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611880" y="2670048"/>
            <a:ext cx="868680" cy="237744"/>
          </a:xfrm>
          <a:prstGeom prst="roundRect">
            <a:avLst>
              <a:gd name="adj" fmla="val 19231"/>
            </a:avLst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11880" y="2670048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</a:rPr>
              <a:t>DAX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61288" y="267004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DAX Measures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61288" y="3035808"/>
            <a:ext cx="3337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SUM, CALCULATE, SUMX, AVERAGEX, DISTINCTCOUNT, RANKX, SAMEPERIODLASTYEAR.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00600" y="2542032"/>
            <a:ext cx="4251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83480" y="2798064"/>
            <a:ext cx="548640" cy="5486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279806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092440" y="2670048"/>
            <a:ext cx="868680" cy="237744"/>
          </a:xfrm>
          <a:prstGeom prst="roundRect">
            <a:avLst>
              <a:gd name="adj" fmla="val 19231"/>
            </a:avLst>
          </a:prstGeom>
          <a:solidFill>
            <a:srgbClr val="EF4444">
              <a:alpha val="18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92440" y="2670048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F4444"/>
                </a:solidFill>
              </a:rPr>
              <a:t>SQL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641848" y="267004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SQL Analysis (20 Queries)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641848" y="3035808"/>
            <a:ext cx="3337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CTEs, Window Functions (LAG, RANK, AVG OVER), subqueries, UPDATE statements.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0040" y="3877056"/>
            <a:ext cx="4251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02920" y="4133088"/>
            <a:ext cx="548640" cy="5486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41330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611880" y="4005072"/>
            <a:ext cx="868680" cy="237744"/>
          </a:xfrm>
          <a:prstGeom prst="roundRect">
            <a:avLst>
              <a:gd name="adj" fmla="val 19231"/>
            </a:avLst>
          </a:prstGeom>
          <a:solidFill>
            <a:srgbClr val="2563EB">
              <a:alpha val="18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11880" y="4005072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</a:rPr>
              <a:t>Dashboard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161288" y="4005072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Dashboard Design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161288" y="4370832"/>
            <a:ext cx="3337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3 Power BI tabs: Main, Product, Individual — with slicers and field parameters.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00600" y="3877056"/>
            <a:ext cx="4251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983480" y="4133088"/>
            <a:ext cx="54864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83480" y="41330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092440" y="4005072"/>
            <a:ext cx="868680" cy="237744"/>
          </a:xfrm>
          <a:prstGeom prst="roundRect">
            <a:avLst>
              <a:gd name="adj" fmla="val 19231"/>
            </a:avLst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92440" y="4005072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B981"/>
                </a:solidFill>
              </a:rPr>
              <a:t>Strategy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641848" y="4005072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Insight Generation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641848" y="4370832"/>
            <a:ext cx="3337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RFM segmentation, loyalty programme design, seasonal campaigns, logistics strategy.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321040" y="491947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78992"/>
            <a:ext cx="91440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182880"/>
            <a:ext cx="1856232" cy="292608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82880"/>
            <a:ext cx="1856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</a:rPr>
              <a:t>REVENUE · Q4 Q5 Q9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47472" y="512064"/>
            <a:ext cx="84490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Revenue Analysis — 2015 to 2020</a:t>
            </a:r>
            <a:endParaRPr lang="en-US" sz="28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20040" y="1188720"/>
          <a:ext cx="51206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320040" y="113385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75569"/>
                </a:solidFill>
              </a:rPr>
              <a:t>Revenue by Year</a:t>
            </a:r>
            <a:endParaRPr lang="en-US" sz="11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5532120" y="1188720"/>
          <a:ext cx="329184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5532120" y="113385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475569"/>
                </a:solidFill>
              </a:rPr>
              <a:t>Revenue by Category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20040" y="4480560"/>
            <a:ext cx="8503920" cy="566928"/>
          </a:xfrm>
          <a:prstGeom prst="roundRect">
            <a:avLst>
              <a:gd name="adj" fmla="val 16129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7200" y="4626864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46268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!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841248" y="450799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</a:rPr>
              <a:t>2020 revenue surged +43% to $24M driven by the COVID-19 pandemic. Phones &amp; Tablets lead with $38.5M (35.9%) despite Health &amp; Beauty having the most orders (35,952).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8321040" y="491947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78992"/>
            <a:ext cx="91440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182880"/>
            <a:ext cx="1943100" cy="292608"/>
          </a:xfrm>
          <a:prstGeom prst="roundRect">
            <a:avLst>
              <a:gd name="adj" fmla="val 1875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82880"/>
            <a:ext cx="19431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</a:rPr>
              <a:t>PRODUCTS · Q6 Q7 Q8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47472" y="512064"/>
            <a:ext cx="84490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Product Performance &amp; Popularity</a:t>
            </a:r>
            <a:endParaRPr lang="en-US" sz="28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20040" y="1188720"/>
          <a:ext cx="51206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320040" y="113385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75569"/>
                </a:solidFill>
              </a:rPr>
              <a:t>Top 5 Products by Revenue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650992" y="1243584"/>
            <a:ext cx="3172968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50992" y="1243584"/>
            <a:ext cx="64008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60720" y="1316736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</a:rPr>
              <a:t>44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7260336" y="1335024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Unique Products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260336" y="1664208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Across 5 categories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650992" y="2231136"/>
            <a:ext cx="3172968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650992" y="2231136"/>
            <a:ext cx="64008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60720" y="230428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</a:rPr>
              <a:t>9.41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7260336" y="2322576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Avg Delivery Days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260336" y="2651760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Delivered orders only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650992" y="3218688"/>
            <a:ext cx="3172968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650992" y="3218688"/>
            <a:ext cx="64008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60720" y="32918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B981"/>
                </a:solidFill>
              </a:rPr>
              <a:t>35,952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7260336" y="3310128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H&amp;B Orders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260336" y="3639312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Most popular category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650992" y="4206240"/>
            <a:ext cx="3172968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650992" y="4206240"/>
            <a:ext cx="64008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760720" y="427939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F4444"/>
                </a:solidFill>
              </a:rPr>
              <a:t>$13.9M</a:t>
            </a: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7260336" y="4297680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Top Product Rev.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7260336" y="4626864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Canon EOS 600D DSLR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8321040" y="491947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78992"/>
            <a:ext cx="914400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182880"/>
            <a:ext cx="2811780" cy="292608"/>
          </a:xfrm>
          <a:prstGeom prst="roundRect">
            <a:avLst>
              <a:gd name="adj" fmla="val 1875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82880"/>
            <a:ext cx="28117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</a:rPr>
              <a:t>RETURNS &amp; RATINGS · Q2 Q3 Q13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47472" y="512064"/>
            <a:ext cx="84490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Returns Deep-Dive &amp; Quality Signals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2377440" cy="2011680"/>
          </a:xfrm>
          <a:prstGeom prst="roundRect">
            <a:avLst>
              <a:gd name="adj" fmla="val 4545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298448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EF4444"/>
                </a:solidFill>
              </a:rPr>
              <a:t>27%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320040" y="2176272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Return Rate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" y="252374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A8C8"/>
                </a:solidFill>
              </a:rPr>
              <a:t>30,526 of 113,000 orders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3291840"/>
            <a:ext cx="2377440" cy="1207008"/>
          </a:xfrm>
          <a:prstGeom prst="roundRect">
            <a:avLst>
              <a:gd name="adj" fmla="val 757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" y="338328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2.73 / 5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20040" y="40233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FD8F0"/>
                </a:solidFill>
              </a:rPr>
              <a:t>Avg Rating</a:t>
            </a:r>
            <a:endParaRPr lang="en-US" sz="140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2907792" y="1188720"/>
          <a:ext cx="3840480" cy="33101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Text 12"/>
          <p:cNvSpPr/>
          <p:nvPr/>
        </p:nvSpPr>
        <p:spPr>
          <a:xfrm>
            <a:off x="2907792" y="113385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75569"/>
                </a:solidFill>
              </a:rPr>
              <a:t>Top 5 Return Reasons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903720" y="1188720"/>
            <a:ext cx="1920240" cy="3310128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995160" y="131673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563EB"/>
                </a:solidFill>
              </a:rPr>
              <a:t>ACTION PLAN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995160" y="1664208"/>
            <a:ext cx="17373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059168" y="1682496"/>
            <a:ext cx="1609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Pre-shipment quality checks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995160" y="2121408"/>
            <a:ext cx="17373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059168" y="2139696"/>
            <a:ext cx="1609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Accurate product descriptions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995160" y="2578608"/>
            <a:ext cx="17373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7059168" y="2596896"/>
            <a:ext cx="1609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Real size guides &amp; images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995160" y="3035808"/>
            <a:ext cx="17373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059168" y="3054096"/>
            <a:ext cx="1609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Supplier SLA penalty clauses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995160" y="3493008"/>
            <a:ext cx="17373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7059168" y="3511296"/>
            <a:ext cx="1609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Post-delivery survey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995160" y="3950208"/>
            <a:ext cx="173736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7059168" y="3968496"/>
            <a:ext cx="1609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Proactive delay alerts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320040" y="4608576"/>
            <a:ext cx="8503920" cy="438912"/>
          </a:xfrm>
          <a:prstGeom prst="roundRect">
            <a:avLst>
              <a:gd name="adj" fmla="val 20833"/>
            </a:avLst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502920" y="4626864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1B1B"/>
                </a:solidFill>
              </a:rPr>
              <a:t>⚠  27% return rate is 2–3× the e-commerce benchmark of 8–12%. All 5 return reasons are ~20% each — indicating systemic quality AND logistics failures requiring parallel fixes.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321040" y="491947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78992"/>
            <a:ext cx="91440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182880"/>
            <a:ext cx="2464308" cy="292608"/>
          </a:xfrm>
          <a:prstGeom prst="roundRect">
            <a:avLst>
              <a:gd name="adj" fmla="val 1875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82880"/>
            <a:ext cx="24643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</a:rPr>
              <a:t>LOCATION &amp; CUSTOMERS · Q4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47472" y="512064"/>
            <a:ext cx="84490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Geographic Revenue &amp; Customer Profile</a:t>
            </a:r>
            <a:endParaRPr lang="en-US" sz="28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20040" y="1188720"/>
          <a:ext cx="5120640" cy="33101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320040" y="113385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75569"/>
                </a:solidFill>
              </a:rPr>
              <a:t>Revenue by Location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559552" y="1207008"/>
            <a:ext cx="1664208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59552" y="1207008"/>
            <a:ext cx="1664208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50992" y="1316736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</a:rPr>
              <a:t>Gender Split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650992" y="1609344"/>
            <a:ext cx="1481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51.6% Male  ·  48.4% Female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324344" y="1207008"/>
            <a:ext cx="1664208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324344" y="1207008"/>
            <a:ext cx="1664208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15784" y="1316736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</a:rPr>
              <a:t>Delivery Types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415784" y="1609344"/>
            <a:ext cx="1481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Abroad 33.5%  ·  Standard 33.5%  ·  Express 33.0%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559552" y="2359152"/>
            <a:ext cx="1664208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559552" y="2359152"/>
            <a:ext cx="1664208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50992" y="2468880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Express Delivery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650992" y="2761488"/>
            <a:ext cx="1481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Avg 3.49 days — fastest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324344" y="2359152"/>
            <a:ext cx="1664208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324344" y="2359152"/>
            <a:ext cx="1664208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15784" y="2468880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</a:rPr>
              <a:t>Shipped from Abroad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7415784" y="2761488"/>
            <a:ext cx="1481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Avg 14.99 days — 4× slower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559552" y="3511296"/>
            <a:ext cx="1664208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559552" y="3511296"/>
            <a:ext cx="1664208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650992" y="3621024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</a:rPr>
              <a:t>Top Revenue Region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650992" y="3913632"/>
            <a:ext cx="1481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Greater Accra — $27.1M (25.2%)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324344" y="3511296"/>
            <a:ext cx="1664208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7324344" y="3511296"/>
            <a:ext cx="1664208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415784" y="3621024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</a:rPr>
              <a:t>Top 4 Regions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7415784" y="3913632"/>
            <a:ext cx="1481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Contribute 74% of all revenue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320040" y="4608576"/>
            <a:ext cx="8503920" cy="438912"/>
          </a:xfrm>
          <a:prstGeom prst="roundRect">
            <a:avLst>
              <a:gd name="adj" fmla="val 2083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502920" y="4626864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4E3B"/>
                </a:solidFill>
              </a:rPr>
              <a:t>Strategy: Prioritise Greater Accra &amp; Ashanti for warehousing. Run targeted campaigns in Volta &amp; Upper East (&lt;5% revenue share) to grow market reach.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8321040" y="491947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78992"/>
            <a:ext cx="91440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182880"/>
            <a:ext cx="2724912" cy="292608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82880"/>
            <a:ext cx="2724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</a:rPr>
              <a:t>SEASONAL INSIGHTS · Q5 Q6 Q7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47472" y="512064"/>
            <a:ext cx="84490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Monthly Revenue &amp; Marketing Opportunities</a:t>
            </a:r>
            <a:endParaRPr lang="en-US" sz="28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20040" y="1188720"/>
          <a:ext cx="5120640" cy="33101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320040" y="113385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75569"/>
                </a:solidFill>
              </a:rPr>
              <a:t>Revenue by Month — 6-Year Average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559552" y="1225296"/>
            <a:ext cx="3264408" cy="868680"/>
          </a:xfrm>
          <a:prstGeom prst="roundRect">
            <a:avLst>
              <a:gd name="adj" fmla="val 10526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59552" y="1225296"/>
            <a:ext cx="987552" cy="868680"/>
          </a:xfrm>
          <a:prstGeom prst="roundRect">
            <a:avLst>
              <a:gd name="adj" fmla="val 1052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559552" y="1316736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FFFFFF"/>
                </a:solidFill>
              </a:rPr>
              <a:t>JANUARY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559552" y="1572768"/>
            <a:ext cx="987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$10.1M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601968" y="1316736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PEAK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601968" y="1591056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Maintain momentum — leverage high intent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559552" y="2212848"/>
            <a:ext cx="3264408" cy="868680"/>
          </a:xfrm>
          <a:prstGeom prst="roundRect">
            <a:avLst>
              <a:gd name="adj" fmla="val 10526"/>
            </a:avLst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559552" y="2212848"/>
            <a:ext cx="987552" cy="868680"/>
          </a:xfrm>
          <a:prstGeom prst="roundRect">
            <a:avLst>
              <a:gd name="adj" fmla="val 10526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559552" y="2304288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FFFFFF"/>
                </a:solidFill>
              </a:rPr>
              <a:t>SEPTEMBER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559552" y="2560320"/>
            <a:ext cx="987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$8.1M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601968" y="2304288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LOWEST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601968" y="2578608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'Back to Tech' campaign — target Electronics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559552" y="3200400"/>
            <a:ext cx="3264408" cy="868680"/>
          </a:xfrm>
          <a:prstGeom prst="roundRect">
            <a:avLst>
              <a:gd name="adj" fmla="val 10526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559552" y="3200400"/>
            <a:ext cx="987552" cy="868680"/>
          </a:xfrm>
          <a:prstGeom prst="roundRect">
            <a:avLst>
              <a:gd name="adj" fmla="val 1052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559552" y="3291840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FFFFFF"/>
                </a:solidFill>
              </a:rPr>
              <a:t>JUNE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559552" y="3547872"/>
            <a:ext cx="987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$8.1M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601968" y="3291840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WEAK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601968" y="3566160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Mid-Year Flash Sale — 24hr deals on Fashion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559552" y="4187952"/>
            <a:ext cx="3264408" cy="868680"/>
          </a:xfrm>
          <a:prstGeom prst="roundRect">
            <a:avLst>
              <a:gd name="adj" fmla="val 10526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559552" y="4187952"/>
            <a:ext cx="987552" cy="868680"/>
          </a:xfrm>
          <a:prstGeom prst="roundRect">
            <a:avLst>
              <a:gd name="adj" fmla="val 1052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5559552" y="4279392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FFFFFF"/>
                </a:solidFill>
              </a:rPr>
              <a:t>NOVEMBER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559552" y="4535424"/>
            <a:ext cx="987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$8.3M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6601968" y="4279392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OPPORTUNITY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601968" y="4553712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Ghana Black Friday — Electronics &amp; Phones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8321040" y="491947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78992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182880"/>
            <a:ext cx="159562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82880"/>
            <a:ext cx="15956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</a:rPr>
              <a:t>RECOMMENDATIONS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47472" y="512064"/>
            <a:ext cx="84490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Strategic Action Plan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2761488" cy="1810512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170432"/>
            <a:ext cx="2761488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1673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3167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</a:rPr>
              <a:t>01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194560" y="1353312"/>
            <a:ext cx="822960" cy="219456"/>
          </a:xfrm>
          <a:prstGeom prst="roundRect">
            <a:avLst>
              <a:gd name="adj" fmla="val 41667"/>
            </a:avLst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194560" y="135331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30" dirty="0">
                <a:solidFill>
                  <a:srgbClr val="EF4444"/>
                </a:solidFill>
              </a:rPr>
              <a:t>HIGH PRIORITY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941832" y="1316736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Reduce Returns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1792224"/>
            <a:ext cx="2487168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" y="192024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" y="1883664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Pre-shipment quality inspections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4632" y="2249424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2212848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Enhanced product descriptions &amp; real photos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4632" y="257860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" y="2542032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Supplier penalty SLAs for defective goods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64408" y="1170432"/>
            <a:ext cx="2761488" cy="1810512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64408" y="1170432"/>
            <a:ext cx="2761488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01568" y="131673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401568" y="13167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</a:rPr>
              <a:t>02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138928" y="1353312"/>
            <a:ext cx="822960" cy="219456"/>
          </a:xfrm>
          <a:prstGeom prst="roundRect">
            <a:avLst>
              <a:gd name="adj" fmla="val 41667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138928" y="135331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30" dirty="0">
                <a:solidFill>
                  <a:srgbClr val="2563EB"/>
                </a:solidFill>
              </a:rPr>
              <a:t>HIGH IMPACT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886200" y="1316736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Logistics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401568" y="1792224"/>
            <a:ext cx="2487168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29000" y="1920240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93592" y="1883664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Target &lt;7 day avg delivery (currently 9.41)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429000" y="2249424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93592" y="2212848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Pre-stock 'Shipped from Abroad' items locally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429000" y="2578608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93592" y="2542032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Real-time delivery tracking system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08776" y="1170432"/>
            <a:ext cx="2761488" cy="1810512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08776" y="1170432"/>
            <a:ext cx="276148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45936" y="131673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345936" y="13167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</a:rPr>
              <a:t>03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083296" y="1353312"/>
            <a:ext cx="822960" cy="219456"/>
          </a:xfrm>
          <a:prstGeom prst="roundRect">
            <a:avLst>
              <a:gd name="adj" fmla="val 41667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8083296" y="135331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30" dirty="0">
                <a:solidFill>
                  <a:srgbClr val="F59E0B"/>
                </a:solidFill>
              </a:rPr>
              <a:t>REVENUE DRIVER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830568" y="1316736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Loyalty Programme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345936" y="1792224"/>
            <a:ext cx="2487168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73368" y="192024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37960" y="1883664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4-tier Bronze/Silver/Gold/Platinum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373368" y="224942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37960" y="2212848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1 pt per $1; 2× bonus on Health &amp; Beauty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373368" y="257860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37960" y="2542032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500-point new customer referral bonus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20040" y="3127248"/>
            <a:ext cx="2761488" cy="1810512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20040" y="3127248"/>
            <a:ext cx="2761488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7200" y="327355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457200" y="32735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</a:rPr>
              <a:t>04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2194560" y="3310128"/>
            <a:ext cx="822960" cy="219456"/>
          </a:xfrm>
          <a:prstGeom prst="roundRect">
            <a:avLst>
              <a:gd name="adj" fmla="val 41667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2194560" y="3310128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30" dirty="0">
                <a:solidFill>
                  <a:srgbClr val="10B981"/>
                </a:solidFill>
              </a:rPr>
              <a:t>GROWTH LEVER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941832" y="3273552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Seasonal Promotions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457200" y="3749040"/>
            <a:ext cx="2487168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84632" y="3877056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9224" y="3840480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September 'Back to Tech' campaign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484632" y="420624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9224" y="4169664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November Ghana Black Friday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84632" y="453542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9224" y="4498848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June Mid-Year Flash Sale — 24hr deals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3264408" y="3127248"/>
            <a:ext cx="2761488" cy="1810512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3264408" y="3127248"/>
            <a:ext cx="2761488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401568" y="327355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3401568" y="32735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</a:rPr>
              <a:t>05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5138928" y="3310128"/>
            <a:ext cx="822960" cy="219456"/>
          </a:xfrm>
          <a:prstGeom prst="roundRect">
            <a:avLst>
              <a:gd name="adj" fmla="val 41667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5138928" y="3310128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30" dirty="0">
                <a:solidFill>
                  <a:srgbClr val="2563EB"/>
                </a:solidFill>
              </a:rPr>
              <a:t>BRAND GROWTH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3886200" y="3273552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Marketing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3401568" y="3749040"/>
            <a:ext cx="2487168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429000" y="3877056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593592" y="3840480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Influencer campaigns for high-ticket items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3429000" y="4206240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593592" y="4169664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EMI/instalment for products above $200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3429000" y="4535424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593592" y="4498848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Geo-targeted ads in underserved regions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6208776" y="3127248"/>
            <a:ext cx="2761488" cy="1810512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6208776" y="3127248"/>
            <a:ext cx="2761488" cy="640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345936" y="327355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F1F5F9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6345936" y="32735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06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8083296" y="3310128"/>
            <a:ext cx="822960" cy="219456"/>
          </a:xfrm>
          <a:prstGeom prst="roundRect">
            <a:avLst>
              <a:gd name="adj" fmla="val 41667"/>
            </a:avLst>
          </a:prstGeom>
          <a:solidFill>
            <a:srgbClr val="F1F5F9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2" name="Text 80"/>
          <p:cNvSpPr/>
          <p:nvPr/>
        </p:nvSpPr>
        <p:spPr>
          <a:xfrm>
            <a:off x="8083296" y="3310128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30" dirty="0">
                <a:solidFill>
                  <a:srgbClr val="0D1B2A"/>
                </a:solidFill>
              </a:rPr>
              <a:t>LONG-TERM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6830568" y="3273552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Data &amp; Analytics</a:t>
            </a:r>
            <a:endParaRPr lang="en-US" sz="1400" dirty="0"/>
          </a:p>
        </p:txBody>
      </p:sp>
      <p:sp>
        <p:nvSpPr>
          <p:cNvPr id="84" name="Shape 82"/>
          <p:cNvSpPr/>
          <p:nvPr/>
        </p:nvSpPr>
        <p:spPr>
          <a:xfrm>
            <a:off x="6345936" y="3749040"/>
            <a:ext cx="2487168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373368" y="3877056"/>
            <a:ext cx="91440" cy="914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537960" y="3840480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Quarterly RFM customer segmentation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6373368" y="4206240"/>
            <a:ext cx="91440" cy="914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537960" y="4169664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ML-powered recommendation engine</a:t>
            </a:r>
            <a:endParaRPr lang="en-US" sz="1050" dirty="0"/>
          </a:p>
        </p:txBody>
      </p:sp>
      <p:sp>
        <p:nvSpPr>
          <p:cNvPr id="89" name="Shape 87"/>
          <p:cNvSpPr/>
          <p:nvPr/>
        </p:nvSpPr>
        <p:spPr>
          <a:xfrm>
            <a:off x="6373368" y="4535424"/>
            <a:ext cx="91440" cy="914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537960" y="4498848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NPS tracking alongside product ratings</a:t>
            </a:r>
            <a:endParaRPr lang="en-US" sz="1050" dirty="0"/>
          </a:p>
        </p:txBody>
      </p:sp>
      <p:sp>
        <p:nvSpPr>
          <p:cNvPr id="91" name="Text 89"/>
          <p:cNvSpPr/>
          <p:nvPr/>
        </p:nvSpPr>
        <p:spPr>
          <a:xfrm>
            <a:off x="8321040" y="491947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78992"/>
            <a:ext cx="9144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182880"/>
            <a:ext cx="2290572" cy="292608"/>
          </a:xfrm>
          <a:prstGeom prst="roundRect">
            <a:avLst>
              <a:gd name="adj" fmla="val 1875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82880"/>
            <a:ext cx="22905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</a:rPr>
              <a:t>LOYALTY · SUBJECTIVE Q8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47472" y="512064"/>
            <a:ext cx="84490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4-Tier Customer Loyalty Programme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8503920" cy="512064"/>
          </a:xfrm>
          <a:prstGeom prst="roundRect">
            <a:avLst>
              <a:gd name="adj" fmla="val 1785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207008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</a:rPr>
              <a:t>Points System:  1 pt per $1 spent   ·   2× bonus on Health &amp; Beauty   ·   100 pts = $1 voucher   ·   500-pt referral bonus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783080"/>
            <a:ext cx="2011680" cy="3246120"/>
          </a:xfrm>
          <a:prstGeom prst="roundRect">
            <a:avLst>
              <a:gd name="adj" fmla="val 5455"/>
            </a:avLst>
          </a:prstGeom>
          <a:solidFill>
            <a:srgbClr val="FDF6EC"/>
          </a:solidFill>
          <a:ln w="12700">
            <a:solidFill>
              <a:srgbClr val="CD7F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21208" y="1865376"/>
            <a:ext cx="1609344" cy="420624"/>
          </a:xfrm>
          <a:prstGeom prst="roundRect">
            <a:avLst>
              <a:gd name="adj" fmla="val 17391"/>
            </a:avLst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1865376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</a:rPr>
              <a:t>BRONZE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" y="235915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D7F32"/>
                </a:solidFill>
              </a:rPr>
              <a:t>70%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20040" y="299923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of customers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2735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1 order  /  &lt; $500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584448"/>
            <a:ext cx="1554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65760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D7F32"/>
                </a:solidFill>
              </a:rPr>
              <a:t>5%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20040" y="411480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</a:rPr>
              <a:t>next order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1480" y="437083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Free standard delivery on $50+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496312" y="1783080"/>
            <a:ext cx="2011680" cy="3246120"/>
          </a:xfrm>
          <a:prstGeom prst="roundRect">
            <a:avLst>
              <a:gd name="adj" fmla="val 5455"/>
            </a:avLst>
          </a:prstGeom>
          <a:solidFill>
            <a:srgbClr val="F9FAFB"/>
          </a:solidFill>
          <a:ln w="12700">
            <a:solidFill>
              <a:srgbClr val="9CA3A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697480" y="1865376"/>
            <a:ext cx="1609344" cy="420624"/>
          </a:xfrm>
          <a:prstGeom prst="roundRect">
            <a:avLst>
              <a:gd name="adj" fmla="val 17391"/>
            </a:avLst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97480" y="1865376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</a:rPr>
              <a:t>SILVER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496312" y="235915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9CA3AF"/>
                </a:solidFill>
              </a:rPr>
              <a:t>20%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2496312" y="299923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of customers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587752" y="32735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2–4 orders  /  $500–$2K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24912" y="3584448"/>
            <a:ext cx="1554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96312" y="365760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CA3AF"/>
                </a:solidFill>
              </a:rPr>
              <a:t>10%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2496312" y="411480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</a:rPr>
              <a:t>quarterly discount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87752" y="437083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Priority service + Birthday offer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72584" y="1783080"/>
            <a:ext cx="2011680" cy="3246120"/>
          </a:xfrm>
          <a:prstGeom prst="roundRect">
            <a:avLst>
              <a:gd name="adj" fmla="val 5455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73752" y="1865376"/>
            <a:ext cx="1609344" cy="420624"/>
          </a:xfrm>
          <a:prstGeom prst="roundRect">
            <a:avLst>
              <a:gd name="adj" fmla="val 17391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73752" y="1865376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</a:rPr>
              <a:t>GOLD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672584" y="235915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D97706"/>
                </a:solidFill>
              </a:rPr>
              <a:t>8%</a:t>
            </a:r>
            <a:endParaRPr lang="en-US" sz="3800" dirty="0"/>
          </a:p>
        </p:txBody>
      </p:sp>
      <p:sp>
        <p:nvSpPr>
          <p:cNvPr id="33" name="Text 31"/>
          <p:cNvSpPr/>
          <p:nvPr/>
        </p:nvSpPr>
        <p:spPr>
          <a:xfrm>
            <a:off x="4672584" y="299923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of customers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64024" y="32735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5–9 orders  /  $2K–$5K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901184" y="3584448"/>
            <a:ext cx="1554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72584" y="365760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97706"/>
                </a:solidFill>
              </a:rPr>
              <a:t>15%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4672584" y="411480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</a:rPr>
              <a:t>every order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64024" y="437083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Free Express delivery always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848856" y="1783080"/>
            <a:ext cx="2011680" cy="3246120"/>
          </a:xfrm>
          <a:prstGeom prst="roundRect">
            <a:avLst>
              <a:gd name="adj" fmla="val 5455"/>
            </a:avLst>
          </a:prstGeom>
          <a:solidFill>
            <a:srgbClr val="1B3A6B"/>
          </a:solidFill>
          <a:ln w="12700">
            <a:solidFill>
              <a:srgbClr val="2563EB"/>
            </a:solidFill>
            <a:prstDash val="solid"/>
          </a:ln>
          <a:effectLst>
            <a:outerShdw blurRad="228600" dist="635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050024" y="1865376"/>
            <a:ext cx="1609344" cy="420624"/>
          </a:xfrm>
          <a:prstGeom prst="roundRect">
            <a:avLst>
              <a:gd name="adj" fmla="val 1739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50024" y="1865376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</a:rPr>
              <a:t>PLATINUM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848856" y="235915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D97706"/>
                </a:solidFill>
              </a:rPr>
              <a:t>2%</a:t>
            </a:r>
            <a:endParaRPr lang="en-US" sz="3800" dirty="0"/>
          </a:p>
        </p:txBody>
      </p:sp>
      <p:sp>
        <p:nvSpPr>
          <p:cNvPr id="43" name="Text 41"/>
          <p:cNvSpPr/>
          <p:nvPr/>
        </p:nvSpPr>
        <p:spPr>
          <a:xfrm>
            <a:off x="6848856" y="299923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C4E0"/>
                </a:solidFill>
              </a:rPr>
              <a:t>of customers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940296" y="32735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CF0"/>
                </a:solidFill>
              </a:rPr>
              <a:t>10+ orders  /  $5K+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077456" y="3584448"/>
            <a:ext cx="1554480" cy="18288"/>
          </a:xfrm>
          <a:prstGeom prst="rect">
            <a:avLst/>
          </a:prstGeom>
          <a:solidFill>
            <a:srgbClr val="3B6EA8"/>
          </a:solidFill>
          <a:ln w="12700">
            <a:solidFill>
              <a:srgbClr val="3B6EA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48856" y="365760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97706"/>
                </a:solidFill>
              </a:rPr>
              <a:t>20%</a:t>
            </a:r>
            <a:endParaRPr lang="en-US" sz="2800" dirty="0"/>
          </a:p>
        </p:txBody>
      </p:sp>
      <p:sp>
        <p:nvSpPr>
          <p:cNvPr id="47" name="Text 45"/>
          <p:cNvSpPr/>
          <p:nvPr/>
        </p:nvSpPr>
        <p:spPr>
          <a:xfrm>
            <a:off x="6848856" y="411480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FD8F0"/>
                </a:solidFill>
              </a:rPr>
              <a:t>lifetime discount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940296" y="437083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9EC4E0"/>
                </a:solidFill>
              </a:rPr>
              <a:t>Dedicated manager + Annual gift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320040" y="504748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75569"/>
                </a:solidFill>
              </a:rPr>
              <a:t>Tier upgrades quarterly based on 6-month rolling spend   ›   ›   ›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321040" y="491947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78992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182880"/>
            <a:ext cx="1856232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82880"/>
            <a:ext cx="1856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</a:rPr>
              <a:t>POWER BI DASHBOARD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47472" y="512064"/>
            <a:ext cx="84490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Report Architecture — 3 Stakeholder Tabs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2761488" cy="385876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170432"/>
            <a:ext cx="2761488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9844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298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1316736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Main Tab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1627632"/>
            <a:ext cx="1993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</a:rPr>
              <a:t>For: Executives &amp; Stakeholders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1901952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High-level overview of Amazon Ghana's performance across all product categories.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606040"/>
            <a:ext cx="2514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88336"/>
            <a:ext cx="2514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2563EB"/>
                </a:solidFill>
              </a:rPr>
              <a:t>KPIs &amp; VISUALS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84632" y="2944368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2916936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Total Sales KPI card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" y="3236976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" y="3209544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Revenue trend by year &amp; month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" y="3529584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" y="3502152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Customer satisfaction score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" y="3822192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" y="3794760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Category revenue breakdown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" y="4114800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" y="4087368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Return rate indicator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425696"/>
            <a:ext cx="2514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480560"/>
            <a:ext cx="2514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2563EB"/>
                </a:solidFill>
              </a:rPr>
              <a:t>SLICERS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" y="4736592"/>
            <a:ext cx="2514600" cy="219456"/>
          </a:xfrm>
          <a:prstGeom prst="roundRect">
            <a:avLst>
              <a:gd name="adj" fmla="val 41667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21208" y="4736592"/>
            <a:ext cx="2395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</a:rPr>
              <a:t>⊕  Product Category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5010912"/>
            <a:ext cx="2514600" cy="219456"/>
          </a:xfrm>
          <a:prstGeom prst="roundRect">
            <a:avLst>
              <a:gd name="adj" fmla="val 41667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21208" y="5010912"/>
            <a:ext cx="2395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</a:rPr>
              <a:t>⊕  Date Range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64408" y="1170432"/>
            <a:ext cx="2761488" cy="385876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64408" y="1170432"/>
            <a:ext cx="2761488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01568" y="129844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401568" y="1298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</a:rPr>
              <a:t>02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950208" y="1316736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Product Tab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3950208" y="1627632"/>
            <a:ext cx="1993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</a:rPr>
              <a:t>For: Product Management Team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401568" y="1901952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Category-level performance for product and inventory decisions.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401568" y="2606040"/>
            <a:ext cx="2514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01568" y="2688336"/>
            <a:ext cx="2514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10B981"/>
                </a:solidFill>
              </a:rPr>
              <a:t>KPIs &amp; VISUALS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429000" y="294436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93592" y="2916936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Category order &amp; revenue counts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429000" y="3236976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93592" y="3209544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Return rate by sub-category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429000" y="352958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93592" y="3502152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Avg rating per product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429000" y="3822192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93592" y="3794760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Products needing improvement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429000" y="411480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93592" y="4087368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Revenue trend by category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401568" y="4425696"/>
            <a:ext cx="2514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01568" y="4480560"/>
            <a:ext cx="2514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10B981"/>
                </a:solidFill>
              </a:rPr>
              <a:t>SLICERS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401568" y="4736592"/>
            <a:ext cx="2514600" cy="219456"/>
          </a:xfrm>
          <a:prstGeom prst="roundRect">
            <a:avLst>
              <a:gd name="adj" fmla="val 41667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3465576" y="4736592"/>
            <a:ext cx="2395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</a:rPr>
              <a:t>⊕  Gender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401568" y="5010912"/>
            <a:ext cx="2514600" cy="219456"/>
          </a:xfrm>
          <a:prstGeom prst="roundRect">
            <a:avLst>
              <a:gd name="adj" fmla="val 41667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3465576" y="5010912"/>
            <a:ext cx="2395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</a:rPr>
              <a:t>⊕  Delivery Type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401568" y="5285232"/>
            <a:ext cx="2514600" cy="219456"/>
          </a:xfrm>
          <a:prstGeom prst="roundRect">
            <a:avLst>
              <a:gd name="adj" fmla="val 41667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3465576" y="5285232"/>
            <a:ext cx="2395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</a:rPr>
              <a:t>⊕  Product Category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401568" y="5559552"/>
            <a:ext cx="2514600" cy="219456"/>
          </a:xfrm>
          <a:prstGeom prst="roundRect">
            <a:avLst>
              <a:gd name="adj" fmla="val 41667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3465576" y="5559552"/>
            <a:ext cx="2395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</a:rPr>
              <a:t>⊕  Age Group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208776" y="1170432"/>
            <a:ext cx="2761488" cy="385876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208776" y="1170432"/>
            <a:ext cx="276148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345936" y="129844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6345936" y="1298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03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6894576" y="1316736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Individual Product</a:t>
            </a:r>
            <a:endParaRPr lang="en-US" sz="1500" dirty="0"/>
          </a:p>
        </p:txBody>
      </p:sp>
      <p:sp>
        <p:nvSpPr>
          <p:cNvPr id="66" name="Text 64"/>
          <p:cNvSpPr/>
          <p:nvPr/>
        </p:nvSpPr>
        <p:spPr>
          <a:xfrm>
            <a:off x="6894576" y="1627632"/>
            <a:ext cx="1993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</a:rPr>
              <a:t>For: Management &amp; Buyers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345936" y="1901952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Granular product profile for procurement and pricing decisions.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6345936" y="2606040"/>
            <a:ext cx="2514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345936" y="2688336"/>
            <a:ext cx="2514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F59E0B"/>
                </a:solidFill>
              </a:rPr>
              <a:t>KPIs &amp; VISUALS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6373368" y="294436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537960" y="2916936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Product ID &amp; category details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6373368" y="323697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537960" y="3209544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Total purchase count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6373368" y="352958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502152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Average customer rating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6373368" y="382219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537960" y="3794760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Revenue per product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6373368" y="411480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537960" y="4087368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Field Parameter toggle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6345936" y="4425696"/>
            <a:ext cx="2514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345936" y="4480560"/>
            <a:ext cx="2514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F59E0B"/>
                </a:solidFill>
              </a:rPr>
              <a:t>SLICERS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6345936" y="4736592"/>
            <a:ext cx="2514600" cy="219456"/>
          </a:xfrm>
          <a:prstGeom prst="roundRect">
            <a:avLst>
              <a:gd name="adj" fmla="val 41667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3" name="Text 81"/>
          <p:cNvSpPr/>
          <p:nvPr/>
        </p:nvSpPr>
        <p:spPr>
          <a:xfrm>
            <a:off x="6409944" y="4736592"/>
            <a:ext cx="2395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</a:rPr>
              <a:t>⊕  Product Name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6345936" y="5010912"/>
            <a:ext cx="2514600" cy="219456"/>
          </a:xfrm>
          <a:prstGeom prst="roundRect">
            <a:avLst>
              <a:gd name="adj" fmla="val 41667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5" name="Text 83"/>
          <p:cNvSpPr/>
          <p:nvPr/>
        </p:nvSpPr>
        <p:spPr>
          <a:xfrm>
            <a:off x="6409944" y="5010912"/>
            <a:ext cx="2395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</a:rPr>
              <a:t>⊕  Metric Selector (Field Param)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8321040" y="491947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645920"/>
            <a:ext cx="5943600" cy="5943600"/>
          </a:xfrm>
          <a:prstGeom prst="ellipse">
            <a:avLst/>
          </a:prstGeom>
          <a:solidFill>
            <a:srgbClr val="1B3A6B">
              <a:alpha val="40000"/>
            </a:srgbClr>
          </a:solidFill>
          <a:ln w="12700">
            <a:solidFill>
              <a:srgbClr val="1B3A6B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474720" cy="3474720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" y="0"/>
            <a:ext cx="2743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292608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2563EB">
              <a:alpha val="8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29260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</a:rPr>
              <a:t>CONCLUSION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47472" y="676656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Key Takeaways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347472" y="1371600"/>
            <a:ext cx="256032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508760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1B3A6B">
              <a:alpha val="45000"/>
            </a:srgbClr>
          </a:solidFill>
          <a:ln w="12700">
            <a:solidFill>
              <a:srgbClr val="3B5E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554480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</a:rPr>
              <a:t>$107.2M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975104" y="1600200"/>
            <a:ext cx="22860" cy="292608"/>
          </a:xfrm>
          <a:prstGeom prst="rect">
            <a:avLst/>
          </a:prstGeom>
          <a:solidFill>
            <a:srgbClr val="3B6EA8"/>
          </a:solidFill>
          <a:ln w="12700">
            <a:solidFill>
              <a:srgbClr val="3B6E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66544" y="155448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FD8F0"/>
                </a:solidFill>
              </a:rPr>
              <a:t>revenue over 6 years — 2020 breakout year at +43% driven by COVID-19.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47472" y="2075688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1B3A6B">
              <a:alpha val="45000"/>
            </a:srgbClr>
          </a:solidFill>
          <a:ln w="12700">
            <a:solidFill>
              <a:srgbClr val="3B5E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121408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</a:rPr>
              <a:t>27% return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975104" y="2167128"/>
            <a:ext cx="22860" cy="292608"/>
          </a:xfrm>
          <a:prstGeom prst="rect">
            <a:avLst/>
          </a:prstGeom>
          <a:solidFill>
            <a:srgbClr val="3B6EA8"/>
          </a:solidFill>
          <a:ln w="12700">
            <a:solidFill>
              <a:srgbClr val="3B6E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66544" y="2121408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FD8F0"/>
                </a:solidFill>
              </a:rPr>
              <a:t>rate — 2–3× industry benchmark. Quality &amp; logistics need urgent fixes.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47472" y="2642616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1B3A6B">
              <a:alpha val="45000"/>
            </a:srgbClr>
          </a:solidFill>
          <a:ln w="12700">
            <a:solidFill>
              <a:srgbClr val="3B5E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688336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</a:rPr>
              <a:t>$38.5M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975104" y="2734056"/>
            <a:ext cx="22860" cy="292608"/>
          </a:xfrm>
          <a:prstGeom prst="rect">
            <a:avLst/>
          </a:prstGeom>
          <a:solidFill>
            <a:srgbClr val="3B6EA8"/>
          </a:solidFill>
          <a:ln w="12700">
            <a:solidFill>
              <a:srgbClr val="3B6E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66544" y="2688336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FD8F0"/>
                </a:solidFill>
              </a:rPr>
              <a:t>from Phones &amp; Tablets — highest revenue despite fewer orders than Health &amp; Beauty.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47472" y="3209544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1B3A6B">
              <a:alpha val="45000"/>
            </a:srgbClr>
          </a:solidFill>
          <a:ln w="12700">
            <a:solidFill>
              <a:srgbClr val="3B5E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255264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</a:rPr>
              <a:t>9.41 days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975104" y="3300984"/>
            <a:ext cx="22860" cy="292608"/>
          </a:xfrm>
          <a:prstGeom prst="rect">
            <a:avLst/>
          </a:prstGeom>
          <a:solidFill>
            <a:srgbClr val="3B6EA8"/>
          </a:solidFill>
          <a:ln w="12700">
            <a:solidFill>
              <a:srgbClr val="3B6E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66544" y="3255264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FD8F0"/>
                </a:solidFill>
              </a:rPr>
              <a:t>avg delivery. Cutting to &lt;7 days is directly linked to improving the 2.73/5 rating.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47472" y="3776472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1B3A6B">
              <a:alpha val="45000"/>
            </a:srgbClr>
          </a:solidFill>
          <a:ln w="12700">
            <a:solidFill>
              <a:srgbClr val="3B5E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3822192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</a:rPr>
              <a:t>4-Tier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975104" y="3867912"/>
            <a:ext cx="22860" cy="292608"/>
          </a:xfrm>
          <a:prstGeom prst="rect">
            <a:avLst/>
          </a:prstGeom>
          <a:solidFill>
            <a:srgbClr val="3B6EA8"/>
          </a:solidFill>
          <a:ln w="12700">
            <a:solidFill>
              <a:srgbClr val="3B6E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66544" y="3822192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FD8F0"/>
                </a:solidFill>
              </a:rPr>
              <a:t>loyalty programme: 70% Bronze → 2% Platinum to maximise customer lifetime value.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47472" y="4343400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1B3A6B">
              <a:alpha val="45000"/>
            </a:srgbClr>
          </a:solidFill>
          <a:ln w="12700">
            <a:solidFill>
              <a:srgbClr val="3B5E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4389120"/>
            <a:ext cx="1481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</a:rPr>
              <a:t>Greater Accra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975104" y="4434840"/>
            <a:ext cx="22860" cy="292608"/>
          </a:xfrm>
          <a:prstGeom prst="rect">
            <a:avLst/>
          </a:prstGeom>
          <a:solidFill>
            <a:srgbClr val="3B6EA8"/>
          </a:solidFill>
          <a:ln w="12700">
            <a:solidFill>
              <a:srgbClr val="3B6E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66544" y="438912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FD8F0"/>
                </a:solidFill>
              </a:rPr>
              <a:t>&amp; Ashanti hold 46% of revenue. Volta &amp; Upper East are untapped growth markets.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347472" y="4736592"/>
            <a:ext cx="8229600" cy="301752"/>
          </a:xfrm>
          <a:prstGeom prst="roundRect">
            <a:avLst>
              <a:gd name="adj" fmla="val 18182"/>
            </a:avLst>
          </a:prstGeom>
          <a:solidFill>
            <a:srgbClr val="2563EB">
              <a:alpha val="8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4736592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Data-driven decisions today build the Amazon of tomorrow.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321040" y="491947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Presentation</dc:subject>
  <dc:creator>Moin Khan</dc:creator>
  <cp:lastModifiedBy>PptxGenJS</cp:lastModifiedBy>
  <cp:revision>8</cp:revision>
  <dcterms:created xsi:type="dcterms:W3CDTF">2026-05-25T06:48:48Z</dcterms:created>
  <dcterms:modified xsi:type="dcterms:W3CDTF">2026-10-13T06:49:53Z</dcterms:modified>
</cp:coreProperties>
</file>