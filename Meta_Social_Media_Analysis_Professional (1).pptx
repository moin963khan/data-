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63195D-5A0D-AA9A-DF33-9E7AA99F48A8}" v="9" dt="2026-05-22T16:08:15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E8533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2A-4C51-8850-B3E1B1062FF6}"/>
              </c:ext>
            </c:extLst>
          </c:dPt>
          <c:dPt>
            <c:idx val="1"/>
            <c:invertIfNegative val="0"/>
            <c:bubble3D val="0"/>
            <c:spPr>
              <a:solidFill>
                <a:srgbClr val="1A56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2A-4C51-8850-B3E1B1062FF6}"/>
              </c:ext>
            </c:extLst>
          </c:dPt>
          <c:dPt>
            <c:idx val="2"/>
            <c:invertIfNegative val="0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2A-4C51-8850-B3E1B1062FF6}"/>
              </c:ext>
            </c:extLst>
          </c:dPt>
          <c:dPt>
            <c:idx val="3"/>
            <c:invertIfNegative val="0"/>
            <c:bubble3D val="0"/>
            <c:spPr>
              <a:solidFill>
                <a:srgbClr val="D484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2A-4C51-8850-B3E1B1062FF6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2A-4C51-8850-B3E1B1062FF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 posts</c:v>
                </c:pt>
                <c:pt idx="1">
                  <c:v>1-2 posts</c:v>
                </c:pt>
                <c:pt idx="2">
                  <c:v>3-5 posts</c:v>
                </c:pt>
                <c:pt idx="3">
                  <c:v>6-10 posts</c:v>
                </c:pt>
                <c:pt idx="4">
                  <c:v>10+ posts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</c:v>
                </c:pt>
                <c:pt idx="1">
                  <c:v>28</c:v>
                </c:pt>
                <c:pt idx="2">
                  <c:v>12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2A-4C51-8850-B3E1B1062F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3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A0-4116-9EE0-9A5774FF051D}"/>
              </c:ext>
            </c:extLst>
          </c:dPt>
          <c:dPt>
            <c:idx val="1"/>
            <c:bubble3D val="0"/>
            <c:spPr>
              <a:solidFill>
                <a:srgbClr val="1A56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A0-4116-9EE0-9A5774FF051D}"/>
              </c:ext>
            </c:extLst>
          </c:dPt>
          <c:dPt>
            <c:idx val="2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A0-4116-9EE0-9A5774FF051D}"/>
              </c:ext>
            </c:extLst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CA0-4116-9EE0-9A5774FF051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A0-4116-9EE0-9A5774FF051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CA0-4116-9EE0-9A5774FF051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A0-4116-9EE0-9A5774FF051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CA0-4116-9EE0-9A5774FF051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Highly Active</c:v>
                </c:pt>
                <c:pt idx="1">
                  <c:v>Moderately Active</c:v>
                </c:pt>
                <c:pt idx="2">
                  <c:v>Low Activity</c:v>
                </c:pt>
                <c:pt idx="3">
                  <c:v>Inactive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52</c:v>
                </c:pt>
                <c:pt idx="2">
                  <c:v>8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CA0-4116-9EE0-9A5774FF05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3DEE1C-4925-4762-84B5-BF515AC01D03}" type="datetimeFigureOut"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0EB56-AE59-43B5-8F7D-604D68E49D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5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0"/>
            <a:ext cx="73152" cy="514350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4" name="Shape 2"/>
          <p:cNvSpPr/>
          <p:nvPr/>
        </p:nvSpPr>
        <p:spPr>
          <a:xfrm>
            <a:off x="4828032" y="0"/>
            <a:ext cx="4315968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-274320"/>
            <a:ext cx="1645920" cy="1645920"/>
          </a:xfrm>
          <a:prstGeom prst="ellipse">
            <a:avLst/>
          </a:prstGeom>
          <a:solidFill>
            <a:srgbClr val="1A56A4">
              <a:alpha val="40000"/>
            </a:srgbClr>
          </a:solidFill>
          <a:ln w="12700">
            <a:solidFill>
              <a:srgbClr val="1A56A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65760" y="3474720"/>
            <a:ext cx="1280160" cy="1280160"/>
          </a:xfrm>
          <a:prstGeom prst="ellipse">
            <a:avLst/>
          </a:prstGeom>
          <a:solidFill>
            <a:srgbClr val="E8533F">
              <a:alpha val="30000"/>
            </a:srgbClr>
          </a:solidFill>
          <a:ln w="12700">
            <a:solidFill>
              <a:srgbClr val="E8533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E8533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</a:t>
            </a:r>
            <a:endParaRPr lang="en-US" sz="3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3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ea typeface="Calibri"/>
                <a:cs typeface="Calibri"/>
              </a:rPr>
              <a:t>By Moin Khan</a:t>
            </a:r>
            <a:endParaRPr lang="en-US" sz="13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Behavior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66360" y="548640"/>
            <a:ext cx="3474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66360" y="548640"/>
            <a:ext cx="64008" cy="118872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6583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Slides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9496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011680"/>
            <a:ext cx="3474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66360" y="2011680"/>
            <a:ext cx="64008" cy="118872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21214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66360" y="3474720"/>
            <a:ext cx="3474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66360" y="3474720"/>
            <a:ext cx="64008" cy="118872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35844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Strategies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User Behavior · Strategic Insights · 2024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60020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527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148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core business questions driving this 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11480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64008" cy="1600200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2527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5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65192" y="1737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2148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dataset structure and key fields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64008" cy="16002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0815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0352" y="3566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Visualizations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user activity, segmentation, and engagement patterns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971800"/>
            <a:ext cx="411480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71800"/>
            <a:ext cx="64008" cy="1600200"/>
          </a:xfrm>
          <a:prstGeom prst="rect">
            <a:avLst/>
          </a:prstGeom>
          <a:solidFill>
            <a:srgbClr val="D4840A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30815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48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65192" y="3566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strategies for growth and influencer outreach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Instagram Behavior to Drive Strategic Growth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examines Instagram user behavior to uncover patterns in engagement, content effectiveness, and user influence — providing a data-driven foundation for platform growth.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269748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55448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Content Success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drives user activity and which content types generate the most engagement.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51760" cy="2697480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55448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011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Influencers &amp; Ambassadors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high-impact users who can serve as brand ambassadors or marketing partners.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651760" cy="269748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155448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011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&amp; Target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154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actionable strategies to re-activate dormant users and sharpen targeting efforts.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657600" cy="36576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Interconnected Tables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schema captures every major interaction on the platform: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200400" cy="347472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500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23500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Core identity &amp; registration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3200400" cy="347472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7977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27797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Posts with timestamps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3200400" cy="347472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095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&amp; comments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32095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Engagement per photo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621024"/>
            <a:ext cx="3200400" cy="347472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393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3639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Follower/followee graph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4050792"/>
            <a:ext cx="3200400" cy="347472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690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photo_tags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5960" y="4069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Content categorization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joined via user_id and photo_id foreign keys.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1188720"/>
            <a:ext cx="1280160" cy="457200"/>
          </a:xfrm>
          <a:prstGeom prst="rect">
            <a:avLst/>
          </a:prstGeom>
          <a:solidFill>
            <a:srgbClr val="E8533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0" y="1188720"/>
            <a:ext cx="1280160" cy="457200"/>
          </a:xfrm>
          <a:prstGeom prst="rect">
            <a:avLst/>
          </a:prstGeom>
          <a:solidFill>
            <a:srgbClr val="1A56A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0" y="2286000"/>
            <a:ext cx="1188720" cy="411480"/>
          </a:xfrm>
          <a:prstGeom prst="rect">
            <a:avLst/>
          </a:prstGeom>
          <a:solidFill>
            <a:srgbClr val="0D7A8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0" y="2286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2286000"/>
            <a:ext cx="1280160" cy="411480"/>
          </a:xfrm>
          <a:prstGeom prst="rect">
            <a:avLst/>
          </a:prstGeom>
          <a:solidFill>
            <a:srgbClr val="0D7A8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7784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32320" y="2286000"/>
            <a:ext cx="1280160" cy="411480"/>
          </a:xfrm>
          <a:prstGeom prst="rect">
            <a:avLst/>
          </a:prstGeom>
          <a:solidFill>
            <a:srgbClr val="1A56A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3232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3383280"/>
            <a:ext cx="1188720" cy="411480"/>
          </a:xfrm>
          <a:prstGeom prst="rect">
            <a:avLst/>
          </a:prstGeom>
          <a:solidFill>
            <a:srgbClr val="D4840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0" y="3383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383280"/>
            <a:ext cx="1463040" cy="411480"/>
          </a:xfrm>
          <a:prstGeom prst="rect">
            <a:avLst/>
          </a:prstGeom>
          <a:solidFill>
            <a:srgbClr val="D4840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photo_tags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12080" y="1645920"/>
            <a:ext cx="9144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217920" y="1645920"/>
            <a:ext cx="100584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223760" y="1645920"/>
            <a:ext cx="54864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166360" y="2697480"/>
            <a:ext cx="9144" cy="6858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766560" y="2697480"/>
            <a:ext cx="91440" cy="6858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1148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Relationships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&amp; Data Dictionary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841248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89888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89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comments_id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0" y="13898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comment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46504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1746504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7465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comment_text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0" y="17465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 of a given comment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841248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103120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03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2103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user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459736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2459736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459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0" y="24597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photo post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816352"/>
            <a:ext cx="841248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2816352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8163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0" y="28163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of interaction — likes, photos, tags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172968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172968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172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follower_id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31729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of the follower in a relationship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529584"/>
            <a:ext cx="841248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3529584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529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followee_id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0" y="352958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of the followee in a relationship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" y="3886200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0" y="38862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content tag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242816"/>
            <a:ext cx="841248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" y="4242816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2428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image_url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74720" y="42428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 to the image posted on the platform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599432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65760" y="4599432"/>
            <a:ext cx="4572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599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74720" y="45994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chosen by the user at registration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 Distribution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554480"/>
            <a:ext cx="28346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554480"/>
            <a:ext cx="54864" cy="82296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have never posted — the largest cohort sits at 0 posts.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2514600"/>
            <a:ext cx="28346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514600"/>
            <a:ext cx="54864" cy="822960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2560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broader than posting — most users still like or comment.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0" y="3474720"/>
            <a:ext cx="283464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3474720"/>
            <a:ext cx="54864" cy="82296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segment is fully inactive with no posts, likes, or comments whatsoever.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and low-posting users represent a significant re-engagement opportunity.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Segmentation by Activity Level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051560"/>
            <a:ext cx="4114800" cy="868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051560"/>
            <a:ext cx="54864" cy="86868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8" name="Text 5"/>
          <p:cNvSpPr/>
          <p:nvPr/>
        </p:nvSpPr>
        <p:spPr>
          <a:xfrm>
            <a:off x="4892040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2356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Active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920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posters with frequent likes and comments. Core platform advocates.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54880" y="2039112"/>
            <a:ext cx="4114800" cy="868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039112"/>
            <a:ext cx="54864" cy="868680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20848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23560" y="20848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Active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2496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segment. Some posting behavior with moderate engagement.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3026664"/>
            <a:ext cx="4114800" cy="868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3026664"/>
            <a:ext cx="54864" cy="86868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30723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23560" y="30723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Activity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92040" y="34838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posts or engages. At risk of becoming fully inactive.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54880" y="4014216"/>
            <a:ext cx="4114800" cy="868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4014216"/>
            <a:ext cx="54864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405993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623560" y="40599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4471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likes or comments. Prime candidates for re-engagement campaigns.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Users by Followers &amp; Engagement Rate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18872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Engagement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Meggie_Doyle leads with the highest engagement rate per post, ahead of all other active users.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20624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64008" cy="118872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688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Followers Pattern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users by engagement each hold exactly 77 followers, showing follower count alone doesn't predict influence.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4206240" cy="11887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703320"/>
            <a:ext cx="64008" cy="118872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94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Loyalty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1605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engagement with a modest following signals a highly loyal audience — ideal for targeted campaigns.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Followed Users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463040"/>
            <a:ext cx="3931920" cy="438912"/>
          </a:xfrm>
          <a:prstGeom prst="rect">
            <a:avLst/>
          </a:prstGeom>
          <a:solidFill>
            <a:srgbClr val="E8533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4630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Kenton_Kirlin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984248"/>
            <a:ext cx="3931920" cy="43891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9842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Kasandra_Homenick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505456"/>
            <a:ext cx="3931920" cy="43891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25054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Eveline95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026664"/>
            <a:ext cx="3931920" cy="43891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30266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Tierra.Trantow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547872"/>
            <a:ext cx="3931920" cy="43891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35478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Jaime53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4069080"/>
            <a:ext cx="3931920" cy="43891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0" y="40690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Meggie_Doyle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Receiving the Most Likes, Comments &amp; Tags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65760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100584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Eveline95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engagement across likes, comments, and tags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3657600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00584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80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Users Tracked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788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Clint27, Cesar93, and Delfina_VonRueden68 also rank highly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36576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0" y="1005840"/>
            <a:ext cx="640080" cy="6400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80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17220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Types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788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comments, and tags measured per user for a holistic 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Influencers for Marketing Campaign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both high follower counts and strong engagement per post were prioritized. The final shortlist ranks the top 6 most influential users for marketing outreach.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41148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08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718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Followers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1772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8076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Rate/Post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8412480" cy="438912"/>
          </a:xfrm>
          <a:prstGeom prst="rect">
            <a:avLst/>
          </a:prstGeom>
          <a:solidFill>
            <a:srgbClr val="FFF3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1920240"/>
            <a:ext cx="54864" cy="43891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202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" y="1920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Donald.Fritsch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71800" y="1920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19202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80760" y="1920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0120" y="2377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Aurelie71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71800" y="2377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23774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0760" y="23774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65.25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8412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8346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" y="28346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Cesar93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71800" y="28346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2834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2834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291840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2918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60120" y="3291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Florence99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71800" y="32918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17720" y="32918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80760" y="3291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749040"/>
            <a:ext cx="8412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7490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6012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Jaime53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71800" y="3749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17720" y="3749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80760" y="37490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206240"/>
            <a:ext cx="8412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42062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60120" y="4206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Eveline95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971800" y="4206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17720" y="42062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80760" y="4206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users consistently generate high interaction relative to their post volume — making them efficient and cost-effective partners for brand campaigns.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frequency and average engagement together paint a clear picture of content that resonates. High-usage tags show volume; high-engagement tags show impact.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384048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Tags by Usage Count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148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084832"/>
            <a:ext cx="256032" cy="256032"/>
          </a:xfrm>
          <a:prstGeom prst="ellipse">
            <a:avLst/>
          </a:prstGeom>
          <a:solidFill>
            <a:srgbClr val="1A56A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#smile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560320"/>
            <a:ext cx="256032" cy="256032"/>
          </a:xfrm>
          <a:prstGeom prst="ellipse">
            <a:avLst/>
          </a:prstGeom>
          <a:solidFill>
            <a:srgbClr val="1A56A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4871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#beach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41148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035808"/>
            <a:ext cx="256032" cy="256032"/>
          </a:xfrm>
          <a:prstGeom prst="ellipse">
            <a:avLst/>
          </a:prstGeom>
          <a:solidFill>
            <a:srgbClr val="1A56A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962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#happy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38144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511296"/>
            <a:ext cx="256032" cy="256032"/>
          </a:xfrm>
          <a:prstGeom prst="ellipse">
            <a:avLst/>
          </a:prstGeom>
          <a:solidFill>
            <a:srgbClr val="1A56A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381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41148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986784"/>
            <a:ext cx="256032" cy="256032"/>
          </a:xfrm>
          <a:prstGeom prst="ellipse">
            <a:avLst/>
          </a:prstGeom>
          <a:solidFill>
            <a:srgbClr val="1A56A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9136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#love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38912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4462272"/>
            <a:ext cx="256032" cy="256032"/>
          </a:xfrm>
          <a:prstGeom prst="ellipse">
            <a:avLst/>
          </a:prstGeom>
          <a:solidFill>
            <a:srgbClr val="1A56A4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#food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554480"/>
            <a:ext cx="4114800" cy="384048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554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Tags by Avg. Engagement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011680"/>
            <a:ext cx="41148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2084832"/>
            <a:ext cx="256032" cy="256032"/>
          </a:xfrm>
          <a:prstGeom prst="ellipse">
            <a:avLst/>
          </a:prstGeom>
          <a:solidFill>
            <a:srgbClr val="0D7A8A"/>
          </a:solidFill>
          <a:ln/>
        </p:spPr>
      </p:sp>
      <p:sp>
        <p:nvSpPr>
          <p:cNvPr id="30" name="Text 28"/>
          <p:cNvSpPr/>
          <p:nvPr/>
        </p:nvSpPr>
        <p:spPr>
          <a:xfrm>
            <a:off x="534924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#beauty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487168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983480" y="2560320"/>
            <a:ext cx="256032" cy="256032"/>
          </a:xfrm>
          <a:prstGeom prst="ellipse">
            <a:avLst/>
          </a:prstGeom>
          <a:solidFill>
            <a:srgbClr val="0D7A8A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24871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#foodie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962656"/>
            <a:ext cx="41148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4983480" y="3035808"/>
            <a:ext cx="256032" cy="256032"/>
          </a:xfrm>
          <a:prstGeom prst="ellipse">
            <a:avLst/>
          </a:prstGeom>
          <a:solidFill>
            <a:srgbClr val="0D7A8A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29626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#travel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438144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983480" y="3511296"/>
            <a:ext cx="256032" cy="256032"/>
          </a:xfrm>
          <a:prstGeom prst="ellipse">
            <a:avLst/>
          </a:prstGeom>
          <a:solidFill>
            <a:srgbClr val="0D7A8A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34381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#lifestyle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913632"/>
            <a:ext cx="41148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Shape 39"/>
          <p:cNvSpPr/>
          <p:nvPr/>
        </p:nvSpPr>
        <p:spPr>
          <a:xfrm>
            <a:off x="4983480" y="3986784"/>
            <a:ext cx="256032" cy="256032"/>
          </a:xfrm>
          <a:prstGeom prst="ellipse">
            <a:avLst/>
          </a:prstGeom>
          <a:solidFill>
            <a:srgbClr val="0D7A8A"/>
          </a:solidFill>
          <a:ln/>
        </p:spPr>
      </p:sp>
      <p:sp>
        <p:nvSpPr>
          <p:cNvPr id="42" name="Text 40"/>
          <p:cNvSpPr/>
          <p:nvPr/>
        </p:nvSpPr>
        <p:spPr>
          <a:xfrm>
            <a:off x="5349240" y="39136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#fitness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438912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983480" y="4462272"/>
            <a:ext cx="256032" cy="256032"/>
          </a:xfrm>
          <a:prstGeom prst="ellipse">
            <a:avLst/>
          </a:prstGeom>
          <a:solidFill>
            <a:srgbClr val="0D7A8A"/>
          </a:solidFill>
          <a:ln/>
        </p:spPr>
      </p:sp>
      <p:sp>
        <p:nvSpPr>
          <p:cNvPr id="45" name="Text 43"/>
          <p:cNvSpPr/>
          <p:nvPr/>
        </p:nvSpPr>
        <p:spPr>
          <a:xfrm>
            <a:off x="5349240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#fashion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FF3F2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like beauty and foodie appear in both high-usage and high-engagement lists — prime candidates for targeted campaign themes.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Users: A Hidden Opportunity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notable segment of registered users have zero posts, zero likes, and zero comments — representing dormant accounts with untapped potential. Re-engaging even a fraction of this cohort could meaningfully amplify platform activity.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384048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841248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842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Kasandra_Homenick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1984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1984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1984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13432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134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Tierra.Trantow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2313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2313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2313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642616"/>
            <a:ext cx="841248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426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2642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642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2642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971800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9718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David.Osinski47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2971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2971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2971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300984"/>
            <a:ext cx="841248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3009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Morgan.Kassulke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3300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3300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3300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630168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6301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Linnea59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36301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36301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36301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959352"/>
            <a:ext cx="841248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9593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Franco_Keebler64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0" y="39593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39593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39593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288536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2885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Hulda.Macejkovic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0" y="4288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0" y="4288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42885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617720"/>
            <a:ext cx="841248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6177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Esmeralda.Mraz57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0" y="4617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0" y="4617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0" y="4617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Rewarding Your Most Active Users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~10% of users drive a disproportionate share of platform energy. Identifying and rewarding them deepens loyalty and fuels organic growth through network effects.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5176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2651760" cy="45720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Exclusive Badges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top creators with visible status symbols tied to engagement milestones.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5176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54480"/>
            <a:ext cx="2651760" cy="457200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Early Feature Access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loyal users first access to new tools, filters, and platform capabilities.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5176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54480"/>
            <a:ext cx="2651760" cy="4572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Spotlight Programs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top contributors in 'Creator of the Month' campaigns to boost visibility.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Active Users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2245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Eveline95  ·  Clint27  ·  Cesar93  ·  Delfina_VonRueden68  ·  Aurelie71  ·  Jaime53  ·  Donald.Fritsch  ·  Janet.Armstrong  ·  Zack_Kemmer93  ·  Alexandro35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Re-Engaging Inactive Users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accounts aren't lost — they're waiting for the right nudge. A layered re-engagement approach reduces friction and makes returning feel rewarding.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384048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Identify &amp; Segment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users with zero or near-zero activity metrics to build a targeted re-engagement cohort.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554480"/>
            <a:ext cx="411480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54480"/>
            <a:ext cx="4114800" cy="384048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Personalized Outreach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or push notifications with content suggestions tailored to past interests and browsing behavior.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11480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91840"/>
            <a:ext cx="4114800" cy="384048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91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Incentivize First Actions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first re-engagement — a like, comment, or post — with badges, follower boosts, or exclusive perks.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3291840"/>
            <a:ext cx="411480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291840"/>
            <a:ext cx="4114800" cy="384048"/>
          </a:xfrm>
          <a:prstGeom prst="rect">
            <a:avLst/>
          </a:prstGeom>
          <a:solidFill>
            <a:srgbClr val="D4840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291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Lower the Barrier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7490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'catch-up' features, AI-generated post templates, and simplified content creation flows to remove friction.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Ad Targeting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Tag-level analysis enables hyper-personalized campaign delivery. Here's how it works in practice for a single user — then scaled across the entire platform.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384048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= 11 — Top Tags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41148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19385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585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22585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411480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87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7520" y="25877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16936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16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7520" y="29169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411480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246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delicious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32461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575304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575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35753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904488"/>
            <a:ext cx="411480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04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17520" y="3904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233672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2336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17520" y="42336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562856"/>
            <a:ext cx="4114800" cy="3108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5628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17520" y="45628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554480"/>
            <a:ext cx="4114800" cy="32461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1664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Unlocks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2148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user's tag profile signals strong interest in food, lifestyle, and entertainment. Ads for restaurants, food delivery, events, or lifestyle brands would land with high relevance.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7760" y="3246120"/>
            <a:ext cx="3749040" cy="36576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383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repeating this analysis across all users, brands can build precise audience segments and serve ads that feel native — not intrusive.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full analysis of Instagram user behavior, four clear conclusions emerge that should shape platform strategy going forward.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64008" cy="155448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64208"/>
            <a:ext cx="457200" cy="34747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642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Engagement Across the User 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share of registered users are inactive or minimally engaged — posting rarely or not at all. This imbalance signals that the platform's active core is smaller than total user numbers suggest.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1554480"/>
            <a:ext cx="411480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554480"/>
            <a:ext cx="64008" cy="1554480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4" name="Shape 12"/>
          <p:cNvSpPr/>
          <p:nvPr/>
        </p:nvSpPr>
        <p:spPr>
          <a:xfrm>
            <a:off x="4983480" y="1664208"/>
            <a:ext cx="457200" cy="347472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6642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16642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10% Drive Disproportionate Growth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1214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active users account for the vast majority of posts, likes, comments, and tags. They are the engine of platform virality and must be identified, nurtured, and retained.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11480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46120"/>
            <a:ext cx="64008" cy="155448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55848"/>
            <a:ext cx="457200" cy="347472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558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355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Users Hold Untapped Potential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130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segment — moderately active users — can be moved toward higher engagement with the right content signals, notifications, and personalization strategies.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3246120"/>
            <a:ext cx="4114800" cy="15544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246120"/>
            <a:ext cx="64008" cy="1554480"/>
          </a:xfrm>
          <a:prstGeom prst="rect">
            <a:avLst/>
          </a:prstGeom>
          <a:solidFill>
            <a:srgbClr val="D4840A"/>
          </a:solidFill>
          <a:ln/>
        </p:spPr>
      </p:sp>
      <p:sp>
        <p:nvSpPr>
          <p:cNvPr id="26" name="Shape 24"/>
          <p:cNvSpPr/>
          <p:nvPr/>
        </p:nvSpPr>
        <p:spPr>
          <a:xfrm>
            <a:off x="4983480" y="3355848"/>
            <a:ext cx="457200" cy="347472"/>
          </a:xfrm>
          <a:prstGeom prst="rect">
            <a:avLst/>
          </a:prstGeom>
          <a:solidFill>
            <a:srgbClr val="D4840A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3558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3355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Accounts Are a Growth Opportunity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8130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users still represent real accounts with real interests. Reactivation campaigns targeting this cohort — even at modest conversion rates — could meaningfully expand platform activity.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to Drive Platform Growth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evidence-backed strategies, each targeting a distinct user segment, to maximize engagement, loyalty, and platform-wide growth.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1480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36192"/>
            <a:ext cx="4114800" cy="43891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01  Reward &amp; Retain Top Creators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gamified recognition system — exclusive badges, 'Creator of the Month' spotlights, and early feature access — to reward the top 10% and deepen their loyalty to the platform.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3840480" cy="164592"/>
          </a:xfrm>
          <a:prstGeom prst="rect">
            <a:avLst/>
          </a:prstGeom>
          <a:solidFill>
            <a:srgbClr val="E8533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16936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Highly Active Users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00600" y="1536192"/>
            <a:ext cx="411480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536192"/>
            <a:ext cx="4114800" cy="438912"/>
          </a:xfrm>
          <a:prstGeom prst="rect">
            <a:avLst/>
          </a:prstGeom>
          <a:solidFill>
            <a:srgbClr val="1A56A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36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02  Nurture Moderate Users Toward Growth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04825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personalized content nudges, algorithmic suggestions, and milestone notifications to encourage moderately active users to post and engage more consistently.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37760" y="2926080"/>
            <a:ext cx="3840480" cy="164592"/>
          </a:xfrm>
          <a:prstGeom prst="rect">
            <a:avLst/>
          </a:prstGeom>
          <a:solidFill>
            <a:srgbClr val="1A56A4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916936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5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Moderately Active Users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411480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73552"/>
            <a:ext cx="4114800" cy="438912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73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03  Reignite Inactive &amp; Dormant Accounts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78561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targeted re-engagement campaigns with simplified onboarding, AI-generated post templates, and first-action incentives (badges, boosts) to lower the barrier to return.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3840480" cy="164592"/>
          </a:xfrm>
          <a:prstGeom prst="rect">
            <a:avLst/>
          </a:prstGeom>
          <a:solidFill>
            <a:srgbClr val="0D7A8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654296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Inactive Users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00600" y="3273552"/>
            <a:ext cx="411480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273552"/>
            <a:ext cx="4114800" cy="438912"/>
          </a:xfrm>
          <a:prstGeom prst="rect">
            <a:avLst/>
          </a:prstGeom>
          <a:solidFill>
            <a:srgbClr val="D4840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273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04  Implement Engagement Metrics &amp; Tracking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78561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Engagement Score and Retention Cohort dashboards to continuously monitor strategy effectiveness and refine targeting as user behavior evolves.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37760" y="4663440"/>
            <a:ext cx="3840480" cy="164592"/>
          </a:xfrm>
          <a:prstGeom prst="rect">
            <a:avLst/>
          </a:prstGeom>
          <a:solidFill>
            <a:srgbClr val="D4840A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4654296"/>
            <a:ext cx="3840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8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Platform-Wide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1A56A4">
              <a:alpha val="30000"/>
            </a:srgbClr>
          </a:solidFill>
          <a:ln w="12700">
            <a:solidFill>
              <a:srgbClr val="1A56A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E8533F">
              <a:alpha val="25000"/>
            </a:srgbClr>
          </a:solidFill>
          <a:ln w="12700">
            <a:solidFill>
              <a:srgbClr val="E8533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feedback, or ready to build your Instagram strategy?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 and put these insights to work.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429000"/>
            <a:ext cx="2743200" cy="457200"/>
          </a:xfrm>
          <a:prstGeom prst="rect">
            <a:avLst/>
          </a:prstGeom>
          <a:solidFill>
            <a:srgbClr val="E8533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Moin Khan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Social Media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 — Social Media Analysis</dc:title>
  <dc:subject>Presentation</dc:subject>
  <dc:creator>Moin Khan</dc:creator>
  <cp:lastModifiedBy>Moin Khan</cp:lastModifiedBy>
  <cp:revision>7</cp:revision>
  <dcterms:created xsi:type="dcterms:W3CDTF">2026-05-22T16:02:40Z</dcterms:created>
  <dcterms:modified xsi:type="dcterms:W3CDTF">2026-05-22T16:08:30Z</dcterms:modified>
</cp:coreProperties>
</file>